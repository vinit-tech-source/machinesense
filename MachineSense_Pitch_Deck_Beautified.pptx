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3.png"/><Relationship Id="rId8" Type="http://schemas.openxmlformats.org/officeDocument/2006/relationships/image" Target="../media/image-8-5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3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YUVA YODHA</a:t>
            </a:r>
            <a:endParaRPr lang="en-US" sz="1050" dirty="0"/>
          </a:p>
          <a:p>
            <a:pPr indent="0" marL="0">
              <a:buNone/>
            </a:pPr>
            <a:r>
              <a:rPr lang="en-US" sz="1100" dirty="0">
                <a:solidFill>
                  <a:srgbClr val="BFEBD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Energy Tech Hackathon 2026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9418320" y="256032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123A2D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9418320" y="256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2FD98A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SCHNEIDER ELECTRIC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863840" y="-1371600"/>
            <a:ext cx="6400800" cy="6400800"/>
          </a:xfrm>
          <a:prstGeom prst="ellipse">
            <a:avLst/>
          </a:prstGeom>
          <a:ln w="25400">
            <a:solidFill>
              <a:srgbClr val="16463A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778240" y="-457200"/>
            <a:ext cx="4572000" cy="4572000"/>
          </a:xfrm>
          <a:prstGeom prst="ellipse">
            <a:avLst/>
          </a:prstGeom>
          <a:ln w="19050">
            <a:solidFill>
              <a:srgbClr val="16463A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1417320"/>
            <a:ext cx="3291840" cy="457200"/>
          </a:xfrm>
          <a:prstGeom prst="roundRect">
            <a:avLst>
              <a:gd name="adj" fmla="val 16000"/>
            </a:avLst>
          </a:prstGeom>
          <a:solidFill>
            <a:srgbClr val="123A2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457200" y="14173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D98A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CHALLENGE 04  ·  SMART MANUFACTURING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10312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Segoe UI" pitchFamily="34" charset="0"/>
                <a:ea typeface="Cambria" pitchFamily="34" charset="-122"/>
                <a:cs typeface="Cambria" pitchFamily="34" charset="-120"/>
              </a:rPr>
              <a:t>MachineSense</a:t>
            </a:r>
            <a:endParaRPr lang="en-US" sz="5600" dirty="0"/>
          </a:p>
        </p:txBody>
      </p:sp>
      <p:sp>
        <p:nvSpPr>
          <p:cNvPr id="10" name="Text 8"/>
          <p:cNvSpPr txBox="1"/>
          <p:nvPr/>
        </p:nvSpPr>
        <p:spPr>
          <a:xfrm>
            <a:off x="475488" y="333756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CFEDE0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Affordable real-time machine health and energy monitoring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CFEDE0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for SME manufacturers.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4846320"/>
            <a:ext cx="457200" cy="457200"/>
          </a:xfrm>
          <a:prstGeom prst="ellipse">
            <a:avLst/>
          </a:prstGeom>
          <a:solidFill>
            <a:srgbClr val="123A2D"/>
          </a:solidFill>
          <a:ln/>
        </p:spPr>
        <p:txBody>
          <a:bodyPr/>
          <a:p/>
        </p:txBody>
      </p:sp>
      <p:pic>
        <p:nvPicPr>
          <p:cNvPr id="12" name="Image 0" descr="icons/dollar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4965192"/>
            <a:ext cx="219456" cy="219456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051560" y="4773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&lt;10%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051560" y="510235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CBB8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of commercial monitoring cost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749040" y="4846320"/>
            <a:ext cx="457200" cy="457200"/>
          </a:xfrm>
          <a:prstGeom prst="ellipse">
            <a:avLst/>
          </a:prstGeom>
          <a:solidFill>
            <a:srgbClr val="123A2D"/>
          </a:solidFill>
          <a:ln/>
        </p:spPr>
        <p:txBody>
          <a:bodyPr/>
          <a:p/>
        </p:txBody>
      </p:sp>
      <p:pic>
        <p:nvPicPr>
          <p:cNvPr id="16" name="Image 1" descr="icons/zap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7912" y="4965192"/>
            <a:ext cx="219456" cy="219456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4343400" y="4773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4343400" y="510235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CBB8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machine health + energy data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7040880" y="4846320"/>
            <a:ext cx="457200" cy="457200"/>
          </a:xfrm>
          <a:prstGeom prst="ellipse">
            <a:avLst/>
          </a:prstGeom>
          <a:solidFill>
            <a:srgbClr val="123A2D"/>
          </a:solidFill>
          <a:ln/>
        </p:spPr>
        <p:txBody>
          <a:bodyPr/>
          <a:p/>
        </p:txBody>
      </p:sp>
      <p:pic>
        <p:nvPicPr>
          <p:cNvPr id="20" name="Image 2" descr="icons/shield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9752" y="4965192"/>
            <a:ext cx="219456" cy="219456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7635240" y="4773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Explainable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7635240" y="510235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CBB8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AI, not a black-box alert</a:t>
            </a:r>
            <a:endParaRPr lang="en-US" sz="900" dirty="0"/>
          </a:p>
        </p:txBody>
      </p:sp>
      <p:sp>
        <p:nvSpPr>
          <p:cNvPr id="23" name="Text 18"/>
          <p:cNvSpPr txBox="1"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Segoe UI"/>
              </a:rPr>
              <a:t>Team MachineSense</a:t>
            </a:r>
          </a:p>
          <a:p/>
          <a:p>
            <a:r>
              <a:rPr sz="2200" b="1">
                <a:latin typeface="Segoe UI"/>
              </a:rPr>
              <a:t>Vinit Shinde (Team Lead)</a:t>
            </a:r>
          </a:p>
          <a:p>
            <a:r>
              <a:rPr sz="2200" b="1">
                <a:latin typeface="Segoe UI"/>
              </a:rPr>
              <a:t>Harsh Vyavahare</a:t>
            </a:r>
          </a:p>
          <a:p>
            <a:r>
              <a:rPr sz="2200" b="1">
                <a:latin typeface="Segoe UI"/>
              </a:rPr>
              <a:t>Dipak Mane</a:t>
            </a:r>
          </a:p>
          <a:p>
            <a:r>
              <a:rPr sz="2200" b="1">
                <a:latin typeface="Segoe UI"/>
              </a:rPr>
              <a:t>Shivam Sapkal</a:t>
            </a:r>
          </a:p>
          <a:p/>
          <a:p>
            <a:r>
              <a:rPr>
                <a:latin typeface="Segoe UI"/>
              </a:rPr>
              <a:t>Yuva Yodha Energy Tech Hackathon 2026</a:t>
            </a:r>
          </a:p>
        </p:txBody>
      </p:sp>
      <p:sp>
        <p:nvSpPr>
          <p:cNvPr id="24" name="Text 19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A78F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01 / 12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2E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YUVA YODHA</a:t>
            </a:r>
            <a:endParaRPr lang="en-US" sz="1050" dirty="0"/>
          </a:p>
          <a:p>
            <a:pPr indent="0" marL="0">
              <a:buNone/>
            </a:pPr>
            <a:r>
              <a:rPr lang="en-US" sz="1100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Energy Tech Hackathon 2026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9418320" y="256032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E7F3ED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9418320" y="256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2FD98A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SCHNEIDER ELECTRIC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1D"/>
                </a:solidFill>
                <a:latin typeface="Segoe UI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SME factories run blind on energy and machine health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731520" y="2240280"/>
            <a:ext cx="548640" cy="548640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p/>
        </p:txBody>
      </p:sp>
      <p:pic>
        <p:nvPicPr>
          <p:cNvPr id="9" name="Image 0" descr="icons/za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4166" y="2382926"/>
            <a:ext cx="263347" cy="26334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31520" y="28803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2E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35–40%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336499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of India's total energy is used by industry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97680" y="196596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4572000" y="2240280"/>
            <a:ext cx="548640" cy="548640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p/>
        </p:txBody>
      </p:sp>
      <p:pic>
        <p:nvPicPr>
          <p:cNvPr id="14" name="Image 1" descr="icons/dolla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646" y="2382926"/>
            <a:ext cx="263347" cy="263347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572000" y="28803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2E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₹15–25k+</a:t>
            </a:r>
            <a:endParaRPr lang="en-US" sz="2600" dirty="0"/>
          </a:p>
        </p:txBody>
      </p:sp>
      <p:sp>
        <p:nvSpPr>
          <p:cNvPr id="16" name="Text 12"/>
          <p:cNvSpPr txBox="1"/>
          <p:nvPr/>
        </p:nvSpPr>
        <p:spPr>
          <a:xfrm>
            <a:off x="4572000" y="336499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cost of a commercial monitoring system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8138160" y="196596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8" name="Shape 14"/>
          <p:cNvSpPr/>
          <p:nvPr/>
        </p:nvSpPr>
        <p:spPr>
          <a:xfrm>
            <a:off x="8412480" y="2240280"/>
            <a:ext cx="548640" cy="548640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p/>
        </p:txBody>
      </p:sp>
      <p:pic>
        <p:nvPicPr>
          <p:cNvPr id="19" name="Image 2" descr="icons/us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5126" y="2382926"/>
            <a:ext cx="263347" cy="263347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412480" y="28803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2E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~900</a:t>
            </a:r>
            <a:endParaRPr lang="en-US" sz="2600" dirty="0"/>
          </a:p>
        </p:txBody>
      </p:sp>
      <p:sp>
        <p:nvSpPr>
          <p:cNvPr id="21" name="Text 16"/>
          <p:cNvSpPr txBox="1"/>
          <p:nvPr/>
        </p:nvSpPr>
        <p:spPr>
          <a:xfrm>
            <a:off x="8412480" y="336499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large factories covered by India's PAT energy scheme — SMEs are not</a:t>
            </a:r>
            <a:endParaRPr lang="en-US" sz="1000" dirty="0"/>
          </a:p>
        </p:txBody>
      </p:sp>
      <p:sp>
        <p:nvSpPr>
          <p:cNvPr id="22" name="Text 17"/>
          <p:cNvSpPr txBox="1"/>
          <p:nvPr/>
        </p:nvSpPr>
        <p:spPr>
          <a:xfrm>
            <a:off x="457200" y="4069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What this means day to day on the factory floor: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548640" y="448056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Machines fail without warning — the first sign of trouble is often a breakdown.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Energy waste goes unnoticed until the monthly electricity bill arrives.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No affordable way to know which machine, or which fault, is costing the most.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AA2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02 / 12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2E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YUVA YODHA</a:t>
            </a:r>
            <a:endParaRPr lang="en-US" sz="1050" dirty="0"/>
          </a:p>
          <a:p>
            <a:pPr indent="0" marL="0">
              <a:buNone/>
            </a:pPr>
            <a:r>
              <a:rPr lang="en-US" sz="1100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Energy Tech Hackathon 2026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9418320" y="256032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E7F3ED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9418320" y="256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2FD98A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SCHNEIDER ELECTRIC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1D"/>
                </a:solidFill>
                <a:latin typeface="Segoe UI" pitchFamily="34" charset="0"/>
                <a:ea typeface="Cambria" pitchFamily="34" charset="-122"/>
                <a:cs typeface="Cambria" pitchFamily="34" charset="-120"/>
              </a:rPr>
              <a:t>Why Existing Approaches Fall Short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13232" y="2039112"/>
            <a:ext cx="566928" cy="566928"/>
          </a:xfrm>
          <a:prstGeom prst="ellipse">
            <a:avLst/>
          </a:prstGeom>
          <a:solidFill>
            <a:srgbClr val="FBECEC"/>
          </a:solidFill>
          <a:ln/>
        </p:spPr>
        <p:txBody>
          <a:bodyPr/>
          <a:p/>
        </p:txBody>
      </p:sp>
      <p:pic>
        <p:nvPicPr>
          <p:cNvPr id="8" name="Image 0" descr="icons/dollar_pri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0633" y="2186513"/>
            <a:ext cx="272125" cy="27212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63040" y="202082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Commercial SCADA / monitoring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6974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Priced for large industry (₹15,000–25,000+ per point). Out of reach for SMEs.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126480" y="178308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6382512" y="2039112"/>
            <a:ext cx="566928" cy="566928"/>
          </a:xfrm>
          <a:prstGeom prst="ellipse">
            <a:avLst/>
          </a:prstGeom>
          <a:solidFill>
            <a:srgbClr val="FBECEC"/>
          </a:solidFill>
          <a:ln/>
        </p:spPr>
        <p:txBody>
          <a:bodyPr/>
          <a:p/>
        </p:txBody>
      </p:sp>
      <p:pic>
        <p:nvPicPr>
          <p:cNvPr id="13" name="Image 1" descr="icons/users_prima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9913" y="2186513"/>
            <a:ext cx="272125" cy="27212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132320" y="202082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Government energy schemes (PAT)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6400800" y="26974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Only covers ~900 large "Designated Consumers." The entire MSME segment sits outside it.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57200" y="397764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713232" y="4233672"/>
            <a:ext cx="566928" cy="566928"/>
          </a:xfrm>
          <a:prstGeom prst="ellipse">
            <a:avLst/>
          </a:prstGeom>
          <a:solidFill>
            <a:srgbClr val="FBECEC"/>
          </a:solidFill>
          <a:ln/>
        </p:spPr>
        <p:txBody>
          <a:bodyPr/>
          <a:p/>
        </p:txBody>
      </p:sp>
      <p:pic>
        <p:nvPicPr>
          <p:cNvPr id="18" name="Image 2" descr="icons/tool_prima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633" y="4381073"/>
            <a:ext cx="272125" cy="27212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463040" y="421538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Manual inspection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731520" y="48920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Reactive, not predictive — a technician finds out after something has already gone wrong.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126480" y="397764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2" name="Shape 17"/>
          <p:cNvSpPr/>
          <p:nvPr/>
        </p:nvSpPr>
        <p:spPr>
          <a:xfrm>
            <a:off x="6382512" y="4233672"/>
            <a:ext cx="566928" cy="566928"/>
          </a:xfrm>
          <a:prstGeom prst="ellipse">
            <a:avLst/>
          </a:prstGeom>
          <a:solidFill>
            <a:srgbClr val="FBECEC"/>
          </a:solidFill>
          <a:ln/>
        </p:spPr>
        <p:txBody>
          <a:bodyPr/>
          <a:p/>
        </p:txBody>
      </p:sp>
      <p:pic>
        <p:nvPicPr>
          <p:cNvPr id="23" name="Image 3" descr="icons/barchart_prima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9913" y="4381073"/>
            <a:ext cx="272125" cy="27212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132320" y="421538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Basic IoT dashboards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6400800" y="48920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Show raw numbers, but don't explain why an alert fired or what to actually do about it.</a:t>
            </a:r>
            <a:endParaRPr lang="en-US" sz="1050" dirty="0"/>
          </a:p>
        </p:txBody>
      </p:sp>
      <p:sp>
        <p:nvSpPr>
          <p:cNvPr id="26" name="Text 20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AA2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03 / 12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2E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YUVA YODHA</a:t>
            </a:r>
            <a:endParaRPr lang="en-US" sz="1050" dirty="0"/>
          </a:p>
          <a:p>
            <a:pPr indent="0" marL="0">
              <a:buNone/>
            </a:pPr>
            <a:r>
              <a:rPr lang="en-US" sz="1100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Energy Tech Hackathon 2026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9418320" y="256032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E7F3ED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9418320" y="256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2FD98A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SCHNEIDER ELECTRIC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1D"/>
                </a:solidFill>
                <a:latin typeface="Segoe UI" pitchFamily="34" charset="0"/>
                <a:ea typeface="Cambria" pitchFamily="34" charset="-122"/>
                <a:cs typeface="Cambria" pitchFamily="34" charset="-120"/>
              </a:rPr>
              <a:t>Our Solution — MachineSense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11247120" cy="914400"/>
          </a:xfrm>
          <a:prstGeom prst="roundRect">
            <a:avLst>
              <a:gd name="adj" fmla="val 12000"/>
            </a:avLst>
          </a:prstGeom>
          <a:solidFill>
            <a:srgbClr val="0B3D2E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822960" y="1600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A low-cost sensor node plus an explainable AI engine that tells a factory owner exactly what's wrong, what it's costing, and what to do next.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743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How it solves the problem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10896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Segoe UI"/>
              </a:rPr>
              <a:t>Retrofits any existing machine — no replacement, no PLC needed.</a:t>
            </a:r>
          </a:p>
          <a:p>
            <a:r>
              <a:rPr>
                <a:latin typeface="Segoe UI"/>
              </a:rPr>
              <a:t>Costs under ₹2,500 per machine, versus ₹15,000–25,000+ commercially.</a:t>
            </a:r>
          </a:p>
          <a:p>
            <a:r>
              <a:rPr>
                <a:latin typeface="Segoe UI"/>
              </a:rPr>
              <a:t>Now integrated with Schneider Electric PowerLogic™ meters for enterprise-grade reliability.</a:t>
            </a:r>
          </a:p>
          <a:p>
            <a:r>
              <a:rPr>
                <a:latin typeface="Segoe UI"/>
              </a:rPr>
              <a:t>Catches mechanical wear and energy waste before the monthly bill or a breakdown reveals it.</a:t>
            </a:r>
          </a:p>
        </p:txBody>
      </p:sp>
      <p:sp>
        <p:nvSpPr>
          <p:cNvPr id="10" name="Shape 8"/>
          <p:cNvSpPr/>
          <p:nvPr/>
        </p:nvSpPr>
        <p:spPr>
          <a:xfrm>
            <a:off x="6309360" y="2743200"/>
            <a:ext cx="5394960" cy="2103120"/>
          </a:xfrm>
          <a:prstGeom prst="roundRect">
            <a:avLst>
              <a:gd name="adj" fmla="val 5217"/>
            </a:avLst>
          </a:prstGeom>
          <a:solidFill>
            <a:srgbClr val="E7F3ED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537960" y="2944368"/>
            <a:ext cx="502920" cy="502920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p/>
        </p:txBody>
      </p:sp>
      <p:pic>
        <p:nvPicPr>
          <p:cNvPr id="12" name="Image 0" descr="icons/shiel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8719" y="3075127"/>
            <a:ext cx="241402" cy="241402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7178040" y="29260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2E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Key differentiator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537960" y="352044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Every alert explains itself (which signal, how much) instead of an unexplained warning light — and the system is allowed to act on its own only for safe, reversible actions like switching on a cooling fan.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57200" y="5074920"/>
            <a:ext cx="26060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640080" y="5239512"/>
            <a:ext cx="530352" cy="530352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p/>
        </p:txBody>
      </p:sp>
      <p:pic>
        <p:nvPicPr>
          <p:cNvPr id="17" name="Image 1" descr="icons/activity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972" y="5377404"/>
            <a:ext cx="254569" cy="254569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25880" y="507492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Sense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3127248" y="5449824"/>
            <a:ext cx="237744" cy="109728"/>
          </a:xfrm>
          <a:prstGeom prst="rightArrow">
            <a:avLst/>
          </a:prstGeom>
          <a:solidFill>
            <a:srgbClr val="C9DCD3"/>
          </a:solidFill>
          <a:ln/>
        </p:spPr>
        <p:txBody>
          <a:bodyPr/>
          <a:p/>
        </p:txBody>
      </p:sp>
      <p:sp>
        <p:nvSpPr>
          <p:cNvPr id="20" name="Shape 16"/>
          <p:cNvSpPr/>
          <p:nvPr/>
        </p:nvSpPr>
        <p:spPr>
          <a:xfrm>
            <a:off x="3429000" y="5074920"/>
            <a:ext cx="26060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1" name="Shape 17"/>
          <p:cNvSpPr/>
          <p:nvPr/>
        </p:nvSpPr>
        <p:spPr>
          <a:xfrm>
            <a:off x="3611880" y="5239512"/>
            <a:ext cx="530352" cy="530352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p/>
        </p:txBody>
      </p:sp>
      <p:pic>
        <p:nvPicPr>
          <p:cNvPr id="22" name="Image 2" descr="icons/cpu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772" y="5377404"/>
            <a:ext cx="254569" cy="254569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4297680" y="507492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6099048" y="5449824"/>
            <a:ext cx="237744" cy="109728"/>
          </a:xfrm>
          <a:prstGeom prst="rightArrow">
            <a:avLst/>
          </a:prstGeom>
          <a:solidFill>
            <a:srgbClr val="C9DCD3"/>
          </a:solidFill>
          <a:ln/>
        </p:spPr>
        <p:txBody>
          <a:bodyPr/>
          <a:p/>
        </p:txBody>
      </p:sp>
      <p:sp>
        <p:nvSpPr>
          <p:cNvPr id="25" name="Shape 20"/>
          <p:cNvSpPr/>
          <p:nvPr/>
        </p:nvSpPr>
        <p:spPr>
          <a:xfrm>
            <a:off x="6400800" y="5074920"/>
            <a:ext cx="26060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6" name="Shape 21"/>
          <p:cNvSpPr/>
          <p:nvPr/>
        </p:nvSpPr>
        <p:spPr>
          <a:xfrm>
            <a:off x="6583680" y="5239512"/>
            <a:ext cx="530352" cy="530352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p/>
        </p:txBody>
      </p:sp>
      <p:pic>
        <p:nvPicPr>
          <p:cNvPr id="27" name="Image 3" descr="icons/aler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1572" y="5377404"/>
            <a:ext cx="254569" cy="254569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269480" y="507492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>
            <a:off x="9070848" y="5449824"/>
            <a:ext cx="237744" cy="109728"/>
          </a:xfrm>
          <a:prstGeom prst="rightArrow">
            <a:avLst/>
          </a:prstGeom>
          <a:solidFill>
            <a:srgbClr val="C9DCD3"/>
          </a:solidFill>
          <a:ln/>
        </p:spPr>
        <p:txBody>
          <a:bodyPr/>
          <a:p/>
        </p:txBody>
      </p:sp>
      <p:sp>
        <p:nvSpPr>
          <p:cNvPr id="30" name="Shape 24"/>
          <p:cNvSpPr/>
          <p:nvPr/>
        </p:nvSpPr>
        <p:spPr>
          <a:xfrm>
            <a:off x="9372600" y="5074920"/>
            <a:ext cx="26060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1" name="Shape 25"/>
          <p:cNvSpPr/>
          <p:nvPr/>
        </p:nvSpPr>
        <p:spPr>
          <a:xfrm>
            <a:off x="9555480" y="5239512"/>
            <a:ext cx="530352" cy="530352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p/>
        </p:txBody>
      </p:sp>
      <p:pic>
        <p:nvPicPr>
          <p:cNvPr id="32" name="Image 4" descr="icons/zap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3372" y="5377404"/>
            <a:ext cx="254569" cy="254569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10241280" y="507492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300" dirty="0"/>
          </a:p>
        </p:txBody>
      </p:sp>
      <p:sp>
        <p:nvSpPr>
          <p:cNvPr id="34" name="Text 27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AA2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04 / 12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2E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YUVA YODHA</a:t>
            </a:r>
            <a:endParaRPr lang="en-US" sz="1050" dirty="0"/>
          </a:p>
          <a:p>
            <a:pPr indent="0" marL="0">
              <a:buNone/>
            </a:pPr>
            <a:r>
              <a:rPr lang="en-US" sz="1100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Energy Tech Hackathon 2026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9418320" y="256032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E7F3ED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9418320" y="256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2FD98A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SCHNEIDER ELECTRIC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1D"/>
                </a:solidFill>
                <a:latin typeface="Segoe UI" pitchFamily="34" charset="0"/>
                <a:ea typeface="Cambria" pitchFamily="34" charset="-122"/>
                <a:cs typeface="Cambria" pitchFamily="34" charset="-120"/>
              </a:rPr>
              <a:t>How MachineSense Works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End-to-end data flow, from the machine to the decision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36118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21792" y="2555748"/>
            <a:ext cx="512064" cy="512064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p/>
        </p:txBody>
      </p:sp>
      <p:pic>
        <p:nvPicPr>
          <p:cNvPr id="9" name="Image 0" descr="icons/activit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929" y="2688885"/>
            <a:ext cx="245791" cy="245791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261872" y="230428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Machine sensors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261872" y="2670048"/>
            <a:ext cx="26517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Current, voltage, vibration, temperature, RPM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133088" y="2752344"/>
            <a:ext cx="237744" cy="109728"/>
          </a:xfrm>
          <a:prstGeom prst="rightArrow">
            <a:avLst/>
          </a:prstGeom>
          <a:solidFill>
            <a:srgbClr val="C9DCD3"/>
          </a:solidFill>
          <a:ln/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4434840" y="2194560"/>
            <a:ext cx="36118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4599432" y="2555748"/>
            <a:ext cx="512064" cy="512064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p/>
        </p:txBody>
      </p:sp>
      <p:pic>
        <p:nvPicPr>
          <p:cNvPr id="15" name="Image 1" descr="icons/wifi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569" y="2688885"/>
            <a:ext cx="245791" cy="245791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239512" y="230428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>
                <a:latin typeface="Segoe UI"/>
              </a:rPr>
              <a:t>Sensor node (ESP32 &amp; Schneider Harmony Hub)</a:t>
            </a:r>
          </a:p>
        </p:txBody>
      </p:sp>
      <p:sp>
        <p:nvSpPr>
          <p:cNvPr id="17" name="Text 13"/>
          <p:cNvSpPr txBox="1"/>
          <p:nvPr/>
        </p:nvSpPr>
        <p:spPr>
          <a:xfrm>
            <a:off x="5239512" y="2670048"/>
            <a:ext cx="26517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Sends readings over Wi-Fi / MQTT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8110728" y="2752344"/>
            <a:ext cx="237744" cy="109728"/>
          </a:xfrm>
          <a:prstGeom prst="rightArrow">
            <a:avLst/>
          </a:prstGeom>
          <a:solidFill>
            <a:srgbClr val="C9DCD3"/>
          </a:solidFill>
          <a:ln/>
        </p:spPr>
        <p:txBody>
          <a:bodyPr/>
          <a:p/>
        </p:txBody>
      </p:sp>
      <p:sp>
        <p:nvSpPr>
          <p:cNvPr id="19" name="Shape 15"/>
          <p:cNvSpPr/>
          <p:nvPr/>
        </p:nvSpPr>
        <p:spPr>
          <a:xfrm>
            <a:off x="8412480" y="2194560"/>
            <a:ext cx="36118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0" name="Shape 16"/>
          <p:cNvSpPr/>
          <p:nvPr/>
        </p:nvSpPr>
        <p:spPr>
          <a:xfrm>
            <a:off x="8577072" y="2555748"/>
            <a:ext cx="512064" cy="512064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p/>
        </p:txBody>
      </p:sp>
      <p:pic>
        <p:nvPicPr>
          <p:cNvPr id="21" name="Image 2" descr="icons/cpu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0209" y="2688885"/>
            <a:ext cx="245791" cy="245791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217152" y="230428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Backend processing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9217152" y="2670048"/>
            <a:ext cx="26517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Computes cost, runs anomaly detection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5916168" y="3429000"/>
            <a:ext cx="0" cy="457200"/>
          </a:xfrm>
          <a:prstGeom prst="line">
            <a:avLst/>
          </a:prstGeom>
          <a:noFill/>
          <a:ln w="25400">
            <a:solidFill>
              <a:srgbClr val="C9DCD3"/>
            </a:solidFill>
            <a:prstDash val="solid"/>
          </a:ln>
        </p:spPr>
        <p:txBody>
          <a:bodyPr/>
          <a:p/>
        </p:txBody>
      </p:sp>
      <p:sp>
        <p:nvSpPr>
          <p:cNvPr id="25" name="Shape 20"/>
          <p:cNvSpPr/>
          <p:nvPr/>
        </p:nvSpPr>
        <p:spPr>
          <a:xfrm>
            <a:off x="1828800" y="3886200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6" name="Shape 21"/>
          <p:cNvSpPr/>
          <p:nvPr/>
        </p:nvSpPr>
        <p:spPr>
          <a:xfrm>
            <a:off x="1993392" y="4133088"/>
            <a:ext cx="512064" cy="512064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p/>
        </p:txBody>
      </p:sp>
      <p:pic>
        <p:nvPicPr>
          <p:cNvPr id="27" name="Image 3" descr="icons/serve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6529" y="4266225"/>
            <a:ext cx="245791" cy="245791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2633472" y="399592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2633472" y="4361688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Stores every reading and alert</a:t>
            </a:r>
            <a:endParaRPr lang="en-US" sz="850" dirty="0"/>
          </a:p>
        </p:txBody>
      </p:sp>
      <p:sp>
        <p:nvSpPr>
          <p:cNvPr id="30" name="Shape 24"/>
          <p:cNvSpPr/>
          <p:nvPr/>
        </p:nvSpPr>
        <p:spPr>
          <a:xfrm>
            <a:off x="6144768" y="4334256"/>
            <a:ext cx="420624" cy="109728"/>
          </a:xfrm>
          <a:prstGeom prst="rightArrow">
            <a:avLst/>
          </a:prstGeom>
          <a:solidFill>
            <a:srgbClr val="C9DCD3"/>
          </a:solidFill>
          <a:ln/>
        </p:spPr>
        <p:txBody>
          <a:bodyPr/>
          <a:p/>
        </p:txBody>
      </p:sp>
      <p:sp>
        <p:nvSpPr>
          <p:cNvPr id="31" name="Shape 25"/>
          <p:cNvSpPr/>
          <p:nvPr/>
        </p:nvSpPr>
        <p:spPr>
          <a:xfrm>
            <a:off x="6675120" y="3886200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32" name="Shape 26"/>
          <p:cNvSpPr/>
          <p:nvPr/>
        </p:nvSpPr>
        <p:spPr>
          <a:xfrm>
            <a:off x="6839712" y="4133088"/>
            <a:ext cx="512064" cy="512064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p/>
        </p:txBody>
      </p:sp>
      <p:pic>
        <p:nvPicPr>
          <p:cNvPr id="33" name="Image 4" descr="icons/barchart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2849" y="4266225"/>
            <a:ext cx="245791" cy="245791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7479792" y="399592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Live updates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7479792" y="4361688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Pushed to the dashboard instantly</a:t>
            </a:r>
            <a:endParaRPr lang="en-US" sz="850" dirty="0"/>
          </a:p>
        </p:txBody>
      </p:sp>
      <p:sp>
        <p:nvSpPr>
          <p:cNvPr id="36" name="Shape 29"/>
          <p:cNvSpPr/>
          <p:nvPr/>
        </p:nvSpPr>
        <p:spPr>
          <a:xfrm>
            <a:off x="6035040" y="4892040"/>
            <a:ext cx="0" cy="411480"/>
          </a:xfrm>
          <a:prstGeom prst="line">
            <a:avLst/>
          </a:prstGeom>
          <a:noFill/>
          <a:ln w="25400">
            <a:solidFill>
              <a:srgbClr val="C9DCD3"/>
            </a:solidFill>
            <a:prstDash val="solid"/>
          </a:ln>
        </p:spPr>
        <p:txBody>
          <a:bodyPr/>
          <a:p/>
        </p:txBody>
      </p:sp>
      <p:sp>
        <p:nvSpPr>
          <p:cNvPr id="37" name="Shape 30"/>
          <p:cNvSpPr/>
          <p:nvPr/>
        </p:nvSpPr>
        <p:spPr>
          <a:xfrm>
            <a:off x="3108960" y="5303520"/>
            <a:ext cx="5852160" cy="1005840"/>
          </a:xfrm>
          <a:prstGeom prst="roundRect">
            <a:avLst>
              <a:gd name="adj" fmla="val 9091"/>
            </a:avLst>
          </a:prstGeom>
          <a:solidFill>
            <a:srgbClr val="145C4B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38" name="Shape 31"/>
          <p:cNvSpPr/>
          <p:nvPr/>
        </p:nvSpPr>
        <p:spPr>
          <a:xfrm>
            <a:off x="3273552" y="5550408"/>
            <a:ext cx="512064" cy="512064"/>
          </a:xfrm>
          <a:prstGeom prst="ellipse">
            <a:avLst/>
          </a:prstGeom>
          <a:solidFill>
            <a:srgbClr val="123A2D"/>
          </a:solidFill>
          <a:ln/>
        </p:spPr>
        <p:txBody>
          <a:bodyPr/>
          <a:p/>
        </p:txBody>
      </p:sp>
      <p:pic>
        <p:nvPicPr>
          <p:cNvPr id="39" name="Image 5" descr="icons/target_accen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6689" y="5683545"/>
            <a:ext cx="245791" cy="245791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3913632" y="5413248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41" name="Text 33"/>
          <p:cNvSpPr txBox="1"/>
          <p:nvPr/>
        </p:nvSpPr>
        <p:spPr>
          <a:xfrm>
            <a:off x="3913632" y="5779008"/>
            <a:ext cx="4892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FEDE0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Status, explained alerts, cost, remaining-life estimate</a:t>
            </a:r>
            <a:endParaRPr lang="en-US" sz="850" dirty="0"/>
          </a:p>
        </p:txBody>
      </p:sp>
      <p:sp>
        <p:nvSpPr>
          <p:cNvPr id="42" name="Text 34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AA2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05 / 12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2E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YUVA YODHA</a:t>
            </a:r>
            <a:endParaRPr lang="en-US" sz="1050" dirty="0"/>
          </a:p>
          <a:p>
            <a:pPr indent="0" marL="0">
              <a:buNone/>
            </a:pPr>
            <a:r>
              <a:rPr lang="en-US" sz="1100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Energy Tech Hackathon 2026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9418320" y="256032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E7F3ED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9418320" y="256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2FD98A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SCHNEIDER ELECTRIC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1D"/>
                </a:solidFill>
                <a:latin typeface="Segoe UI" pitchFamily="34" charset="0"/>
                <a:ea typeface="Cambria" pitchFamily="34" charset="-122"/>
                <a:cs typeface="Cambria" pitchFamily="34" charset="-120"/>
              </a:rPr>
              <a:t>System Architecture &amp; Tech Stack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8521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94360" y="1783080"/>
            <a:ext cx="457200" cy="457200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p/>
        </p:txBody>
      </p:sp>
      <p:pic>
        <p:nvPicPr>
          <p:cNvPr id="8" name="Image 0" descr="icons/activit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901952"/>
            <a:ext cx="219456" cy="21945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88720" y="169164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Segoe UI"/>
              </a:rPr>
              <a:t>ESP32 Sensors + Schneider PM5000 Modbus Meters</a:t>
            </a:r>
          </a:p>
        </p:txBody>
      </p:sp>
      <p:sp>
        <p:nvSpPr>
          <p:cNvPr id="10" name="Shape 7"/>
          <p:cNvSpPr/>
          <p:nvPr/>
        </p:nvSpPr>
        <p:spPr>
          <a:xfrm>
            <a:off x="2468880" y="2350008"/>
            <a:ext cx="0" cy="137160"/>
          </a:xfrm>
          <a:prstGeom prst="line">
            <a:avLst/>
          </a:prstGeom>
          <a:noFill/>
          <a:ln w="25400">
            <a:solidFill>
              <a:srgbClr val="C9DCD3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57200" y="2487168"/>
            <a:ext cx="58521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594360" y="2578608"/>
            <a:ext cx="457200" cy="457200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p/>
        </p:txBody>
      </p:sp>
      <p:pic>
        <p:nvPicPr>
          <p:cNvPr id="13" name="Image 1" descr="icons/cpu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697480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188720" y="2487168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FastAPI backend (HTTP + MQTT ingestion)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2468880" y="3145536"/>
            <a:ext cx="0" cy="137160"/>
          </a:xfrm>
          <a:prstGeom prst="line">
            <a:avLst/>
          </a:prstGeom>
          <a:noFill/>
          <a:ln w="25400">
            <a:solidFill>
              <a:srgbClr val="C9DCD3"/>
            </a:solidFill>
            <a:prstDash val="solid"/>
          </a:ln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457200" y="3282696"/>
            <a:ext cx="58521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594360" y="3374136"/>
            <a:ext cx="457200" cy="457200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p/>
        </p:txBody>
      </p:sp>
      <p:pic>
        <p:nvPicPr>
          <p:cNvPr id="18" name="Image 2" descr="icons/lay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493008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188720" y="3282696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Anomaly detection + power/cost service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2468880" y="3941064"/>
            <a:ext cx="0" cy="137160"/>
          </a:xfrm>
          <a:prstGeom prst="line">
            <a:avLst/>
          </a:prstGeom>
          <a:noFill/>
          <a:ln w="25400">
            <a:solidFill>
              <a:srgbClr val="C9DCD3"/>
            </a:solidFill>
            <a:prstDash val="solid"/>
          </a:ln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457200" y="4078224"/>
            <a:ext cx="58521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2" name="Shape 17"/>
          <p:cNvSpPr/>
          <p:nvPr/>
        </p:nvSpPr>
        <p:spPr>
          <a:xfrm>
            <a:off x="594360" y="4169664"/>
            <a:ext cx="457200" cy="457200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p/>
        </p:txBody>
      </p:sp>
      <p:pic>
        <p:nvPicPr>
          <p:cNvPr id="23" name="Image 3" descr="icons/serve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4288536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188720" y="4078224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PostgreSQL + WebSocket broadcast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2468880" y="4736592"/>
            <a:ext cx="0" cy="137160"/>
          </a:xfrm>
          <a:prstGeom prst="line">
            <a:avLst/>
          </a:prstGeom>
          <a:noFill/>
          <a:ln w="25400">
            <a:solidFill>
              <a:srgbClr val="C9DCD3"/>
            </a:solidFill>
            <a:prstDash val="solid"/>
          </a:ln>
        </p:spPr>
        <p:txBody>
          <a:bodyPr/>
          <a:p/>
        </p:txBody>
      </p:sp>
      <p:sp>
        <p:nvSpPr>
          <p:cNvPr id="26" name="Shape 20"/>
          <p:cNvSpPr/>
          <p:nvPr/>
        </p:nvSpPr>
        <p:spPr>
          <a:xfrm>
            <a:off x="457200" y="4873752"/>
            <a:ext cx="58521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" name="Shape 21"/>
          <p:cNvSpPr/>
          <p:nvPr/>
        </p:nvSpPr>
        <p:spPr>
          <a:xfrm>
            <a:off x="594360" y="4965192"/>
            <a:ext cx="457200" cy="457200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p/>
        </p:txBody>
      </p:sp>
      <p:pic>
        <p:nvPicPr>
          <p:cNvPr id="28" name="Image 4" descr="icons/grid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5084064"/>
            <a:ext cx="219456" cy="219456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188720" y="4873752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React dashboard (multi-machine)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6583680" y="1691640"/>
            <a:ext cx="5120640" cy="4480560"/>
          </a:xfrm>
          <a:prstGeom prst="roundRect">
            <a:avLst>
              <a:gd name="adj" fmla="val 2449"/>
            </a:avLst>
          </a:prstGeom>
          <a:solidFill>
            <a:srgbClr val="0B3D2E"/>
          </a:solidFill>
          <a:ln/>
        </p:spPr>
        <p:txBody>
          <a:bodyPr/>
          <a:p/>
        </p:txBody>
      </p:sp>
      <p:sp>
        <p:nvSpPr>
          <p:cNvPr id="31" name="Text 24"/>
          <p:cNvSpPr txBox="1"/>
          <p:nvPr/>
        </p:nvSpPr>
        <p:spPr>
          <a:xfrm>
            <a:off x="6903720" y="1874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D98A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500" dirty="0"/>
          </a:p>
        </p:txBody>
      </p:sp>
      <p:sp>
        <p:nvSpPr>
          <p:cNvPr id="32" name="Text 25"/>
          <p:cNvSpPr txBox="1"/>
          <p:nvPr/>
        </p:nvSpPr>
        <p:spPr>
          <a:xfrm>
            <a:off x="6903720" y="237744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FD98A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BACKEND  </a:t>
            </a:r>
            <a:pPr indent="0" marL="0">
              <a:buNone/>
            </a:pPr>
            <a:r>
              <a:rPr lang="en-US" sz="1050" dirty="0">
                <a:solidFill>
                  <a:srgbClr val="E3F3EC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FastAPI, Uvicorn, SQLAlchemy 2.0, Alembic, asyncpg</a:t>
            </a:r>
            <a:endParaRPr lang="en-US" sz="950" dirty="0"/>
          </a:p>
        </p:txBody>
      </p:sp>
      <p:sp>
        <p:nvSpPr>
          <p:cNvPr id="33" name="Text 26"/>
          <p:cNvSpPr txBox="1"/>
          <p:nvPr/>
        </p:nvSpPr>
        <p:spPr>
          <a:xfrm>
            <a:off x="6903720" y="3145536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FD98A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DATA  </a:t>
            </a:r>
            <a:pPr indent="0" marL="0">
              <a:buNone/>
            </a:pPr>
            <a:r>
              <a:rPr lang="en-US" sz="1050" dirty="0">
                <a:solidFill>
                  <a:srgbClr val="E3F3EC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PostgreSQL, MQTT (aiomqtt), WebSockets</a:t>
            </a:r>
            <a:endParaRPr lang="en-US" sz="950" dirty="0"/>
          </a:p>
        </p:txBody>
      </p:sp>
      <p:sp>
        <p:nvSpPr>
          <p:cNvPr id="34" name="Text 27"/>
          <p:cNvSpPr txBox="1"/>
          <p:nvPr/>
        </p:nvSpPr>
        <p:spPr>
          <a:xfrm>
            <a:off x="6903720" y="391363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FD98A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ANALYTICS  </a:t>
            </a:r>
            <a:pPr indent="0" marL="0">
              <a:buNone/>
            </a:pPr>
            <a:r>
              <a:rPr lang="en-US" sz="1050" dirty="0">
                <a:solidFill>
                  <a:srgbClr val="E3F3EC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NumPy, SciPy — MAD-based anomaly detection</a:t>
            </a:r>
            <a:endParaRPr lang="en-US" sz="950" dirty="0"/>
          </a:p>
        </p:txBody>
      </p:sp>
      <p:sp>
        <p:nvSpPr>
          <p:cNvPr id="35" name="Text 28"/>
          <p:cNvSpPr txBox="1"/>
          <p:nvPr/>
        </p:nvSpPr>
        <p:spPr>
          <a:xfrm>
            <a:off x="6903720" y="468172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FD98A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FRONTEND  </a:t>
            </a:r>
            <a:pPr indent="0" marL="0">
              <a:buNone/>
            </a:pPr>
            <a:r>
              <a:rPr lang="en-US" sz="1050" dirty="0">
                <a:solidFill>
                  <a:srgbClr val="E3F3EC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React 19, TypeScript, Vite, react-router</a:t>
            </a:r>
            <a:endParaRPr lang="en-US" sz="950" dirty="0"/>
          </a:p>
        </p:txBody>
      </p:sp>
      <p:sp>
        <p:nvSpPr>
          <p:cNvPr id="36" name="Text 29"/>
          <p:cNvSpPr txBox="1"/>
          <p:nvPr/>
        </p:nvSpPr>
        <p:spPr>
          <a:xfrm>
            <a:off x="6903720" y="5449824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FD98A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TESTING  </a:t>
            </a:r>
            <a:pPr indent="0" marL="0">
              <a:buNone/>
            </a:pPr>
            <a:r>
              <a:rPr lang="en-US" sz="1050" dirty="0">
                <a:solidFill>
                  <a:srgbClr val="E3F3EC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pytest, pytest-asyncio, httpx — 47 tests passing</a:t>
            </a:r>
            <a:endParaRPr lang="en-US" sz="950" dirty="0"/>
          </a:p>
        </p:txBody>
      </p:sp>
      <p:sp>
        <p:nvSpPr>
          <p:cNvPr id="37" name="Text 30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AA2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06 / 12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2E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YUVA YODHA</a:t>
            </a:r>
            <a:endParaRPr lang="en-US" sz="1050" dirty="0"/>
          </a:p>
          <a:p>
            <a:pPr indent="0" marL="0">
              <a:buNone/>
            </a:pPr>
            <a:r>
              <a:rPr lang="en-US" sz="1100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Energy Tech Hackathon 2026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9418320" y="256032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E7F3ED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9418320" y="256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2FD98A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SCHNEIDER ELECTRIC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1D"/>
                </a:solidFill>
                <a:latin typeface="Segoe UI" pitchFamily="34" charset="0"/>
                <a:ea typeface="Cambria" pitchFamily="34" charset="-122"/>
                <a:cs typeface="Cambria" pitchFamily="34" charset="-120"/>
              </a:rPr>
              <a:t>Machine Health &amp; Energy Intelligence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539496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31520" y="1874520"/>
            <a:ext cx="502920" cy="502920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p/>
        </p:txBody>
      </p:sp>
      <p:pic>
        <p:nvPicPr>
          <p:cNvPr id="8" name="Image 0" descr="icons/activit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279" y="2005279"/>
            <a:ext cx="241402" cy="24140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71600" y="18745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Machine health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56032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B3D2E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Vibration — </a:t>
            </a:r>
            <a:pPr indent="0" marL="0">
              <a:buNone/>
            </a:pPr>
            <a:r>
              <a:rPr lang="en-US" sz="1080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Main signal for catching bearing wear early — ~50% of motor failures start here.</a:t>
            </a:r>
            <a:endParaRPr lang="en-US" sz="108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3493008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B3D2E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Temperature — </a:t>
            </a:r>
            <a:pPr indent="0" marL="0">
              <a:buNone/>
            </a:pPr>
            <a:r>
              <a:rPr lang="en-US" sz="1080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Rising heat with no load change signals friction or overload.</a:t>
            </a:r>
            <a:endParaRPr lang="en-US" sz="108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4425696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B3D2E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Current + RPM — </a:t>
            </a:r>
            <a:pPr indent="0" marL="0">
              <a:buNone/>
            </a:pPr>
            <a:r>
              <a:rPr lang="en-US" sz="1080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A machine drawing more current or running slower than baseline hints at mechanical resistance.</a:t>
            </a:r>
            <a:endParaRPr lang="en-US" sz="108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5449824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Detection method: median + MAD statistical baseline, with debounce logic so a single noisy reading never fires a false alert.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309360" y="1645920"/>
            <a:ext cx="539496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6583680" y="1874520"/>
            <a:ext cx="502920" cy="502920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p/>
        </p:txBody>
      </p:sp>
      <p:pic>
        <p:nvPicPr>
          <p:cNvPr id="16" name="Image 1" descr="icons/zap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4439" y="2005279"/>
            <a:ext cx="241402" cy="241402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223760" y="18745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Energy intelligence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6583680" y="256032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B3D2E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Live cost tracking — </a:t>
            </a:r>
            <a:pPr indent="0" marL="0">
              <a:buNone/>
            </a:pPr>
            <a:r>
              <a:rPr lang="en-US" sz="1080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Real power, accumulated kWh, and ₹ cost — updated every few seconds.</a:t>
            </a:r>
            <a:endParaRPr lang="en-US" sz="1080" dirty="0"/>
          </a:p>
        </p:txBody>
      </p:sp>
      <p:sp>
        <p:nvSpPr>
          <p:cNvPr id="19" name="Text 15"/>
          <p:cNvSpPr txBox="1"/>
          <p:nvPr/>
        </p:nvSpPr>
        <p:spPr>
          <a:xfrm>
            <a:off x="6583680" y="3493008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B3D2E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SEC per good unit — </a:t>
            </a:r>
            <a:pPr indent="0" marL="0">
              <a:buNone/>
            </a:pPr>
            <a:r>
              <a:rPr lang="en-US" sz="1080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Specific Energy Consumption (energy ÷ good units) — the real measure of efficiency, not raw kWh.</a:t>
            </a:r>
            <a:endParaRPr lang="en-US" sz="1080" dirty="0"/>
          </a:p>
        </p:txBody>
      </p:sp>
      <p:sp>
        <p:nvSpPr>
          <p:cNvPr id="20" name="Text 16"/>
          <p:cNvSpPr txBox="1"/>
          <p:nvPr/>
        </p:nvSpPr>
        <p:spPr>
          <a:xfrm>
            <a:off x="6583680" y="4425696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B3D2E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Day-to-day comparison — </a:t>
            </a:r>
            <a:pPr indent="0" marL="0">
              <a:buNone/>
            </a:pPr>
            <a:r>
              <a:rPr lang="en-US" sz="1080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Explains output changes using idle time, slow-running periods, and health alerts — not just a number.</a:t>
            </a:r>
            <a:endParaRPr lang="en-US" sz="1080" dirty="0"/>
          </a:p>
        </p:txBody>
      </p:sp>
      <p:sp>
        <p:nvSpPr>
          <p:cNvPr id="21" name="Text 17"/>
          <p:cNvSpPr txBox="1"/>
          <p:nvPr/>
        </p:nvSpPr>
        <p:spPr>
          <a:xfrm>
            <a:off x="6583680" y="5449824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“Day 2 made 30% fewer good units than Day 1 despite equal run time — 42 minutes of unplanned stops, correlated with a vibration warning.”</a:t>
            </a:r>
            <a:endParaRPr lang="en-US" sz="950" dirty="0"/>
          </a:p>
        </p:txBody>
      </p:sp>
      <p:sp>
        <p:nvSpPr>
          <p:cNvPr id="22" name="Text 18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AA2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07 / 12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2E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YUVA YODHA</a:t>
            </a:r>
            <a:endParaRPr lang="en-US" sz="1050" dirty="0"/>
          </a:p>
          <a:p>
            <a:pPr indent="0" marL="0">
              <a:buNone/>
            </a:pPr>
            <a:r>
              <a:rPr lang="en-US" sz="1100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Energy Tech Hackathon 2026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9418320" y="256032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E7F3ED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9418320" y="256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2FD98A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SCHNEIDER ELECTRIC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1D"/>
                </a:solidFill>
                <a:latin typeface="Segoe UI" pitchFamily="34" charset="0"/>
                <a:ea typeface="Cambria" pitchFamily="34" charset="-122"/>
                <a:cs typeface="Cambria" pitchFamily="34" charset="-120"/>
              </a:rPr>
              <a:t>The AI Decision Engine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What makes this genuinely different from a sensor-plus-dashboard project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12648" y="2157984"/>
            <a:ext cx="512064" cy="512064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p/>
        </p:txBody>
      </p:sp>
      <p:pic>
        <p:nvPicPr>
          <p:cNvPr id="9" name="Image 0" descr="icons/targ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785" y="2291121"/>
            <a:ext cx="245791" cy="245791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57200" y="2697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587752" y="2368296"/>
            <a:ext cx="182880" cy="109728"/>
          </a:xfrm>
          <a:prstGeom prst="rightArrow">
            <a:avLst/>
          </a:prstGeom>
          <a:solidFill>
            <a:srgbClr val="C9DCD3"/>
          </a:solidFill>
          <a:ln/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2798064" y="196596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2953512" y="2157984"/>
            <a:ext cx="512064" cy="512064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p/>
        </p:txBody>
      </p:sp>
      <p:pic>
        <p:nvPicPr>
          <p:cNvPr id="14" name="Image 1" descr="icons/cpu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6649" y="2291121"/>
            <a:ext cx="245791" cy="245791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798064" y="2697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928616" y="2368296"/>
            <a:ext cx="182880" cy="109728"/>
          </a:xfrm>
          <a:prstGeom prst="rightArrow">
            <a:avLst/>
          </a:prstGeom>
          <a:solidFill>
            <a:srgbClr val="C9DCD3"/>
          </a:solidFill>
          <a:ln/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5138928" y="196596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8" name="Shape 14"/>
          <p:cNvSpPr/>
          <p:nvPr/>
        </p:nvSpPr>
        <p:spPr>
          <a:xfrm>
            <a:off x="5294376" y="2157984"/>
            <a:ext cx="512064" cy="512064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p/>
        </p:txBody>
      </p:sp>
      <p:pic>
        <p:nvPicPr>
          <p:cNvPr id="19" name="Image 2" descr="icons/aler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7513" y="2291121"/>
            <a:ext cx="245791" cy="245791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138928" y="2697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7269480" y="2368296"/>
            <a:ext cx="182880" cy="109728"/>
          </a:xfrm>
          <a:prstGeom prst="rightArrow">
            <a:avLst/>
          </a:prstGeom>
          <a:solidFill>
            <a:srgbClr val="C9DCD3"/>
          </a:solidFill>
          <a:ln/>
        </p:spPr>
        <p:txBody>
          <a:bodyPr/>
          <a:p/>
        </p:txBody>
      </p:sp>
      <p:sp>
        <p:nvSpPr>
          <p:cNvPr id="22" name="Shape 17"/>
          <p:cNvSpPr/>
          <p:nvPr/>
        </p:nvSpPr>
        <p:spPr>
          <a:xfrm>
            <a:off x="7479792" y="196596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3" name="Shape 18"/>
          <p:cNvSpPr/>
          <p:nvPr/>
        </p:nvSpPr>
        <p:spPr>
          <a:xfrm>
            <a:off x="7635240" y="2157984"/>
            <a:ext cx="512064" cy="512064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p/>
        </p:txBody>
      </p:sp>
      <p:pic>
        <p:nvPicPr>
          <p:cNvPr id="24" name="Image 3" descr="icons/clo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8377" y="2291121"/>
            <a:ext cx="245791" cy="245791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479792" y="2697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9610344" y="2368296"/>
            <a:ext cx="182880" cy="109728"/>
          </a:xfrm>
          <a:prstGeom prst="rightArrow">
            <a:avLst/>
          </a:prstGeom>
          <a:solidFill>
            <a:srgbClr val="C9DCD3"/>
          </a:solidFill>
          <a:ln/>
        </p:spPr>
        <p:txBody>
          <a:bodyPr/>
          <a:p/>
        </p:txBody>
      </p:sp>
      <p:sp>
        <p:nvSpPr>
          <p:cNvPr id="27" name="Shape 21"/>
          <p:cNvSpPr/>
          <p:nvPr/>
        </p:nvSpPr>
        <p:spPr>
          <a:xfrm>
            <a:off x="9820656" y="196596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8" name="Shape 22"/>
          <p:cNvSpPr/>
          <p:nvPr/>
        </p:nvSpPr>
        <p:spPr>
          <a:xfrm>
            <a:off x="9976104" y="2157984"/>
            <a:ext cx="512064" cy="512064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p/>
        </p:txBody>
      </p:sp>
      <p:pic>
        <p:nvPicPr>
          <p:cNvPr id="29" name="Image 4" descr="icons/zap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09241" y="2291121"/>
            <a:ext cx="245791" cy="245791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9820656" y="2697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457200" y="3246120"/>
            <a:ext cx="3611880" cy="1920240"/>
          </a:xfrm>
          <a:prstGeom prst="roundRect">
            <a:avLst>
              <a:gd name="adj" fmla="val 5714"/>
            </a:avLst>
          </a:prstGeom>
          <a:solidFill>
            <a:srgbClr val="E7F3ED"/>
          </a:solidFill>
          <a:ln/>
        </p:spPr>
        <p:txBody>
          <a:bodyPr/>
          <a:p/>
        </p:txBody>
      </p:sp>
      <p:sp>
        <p:nvSpPr>
          <p:cNvPr id="32" name="Shape 25"/>
          <p:cNvSpPr/>
          <p:nvPr/>
        </p:nvSpPr>
        <p:spPr>
          <a:xfrm>
            <a:off x="685800" y="3456432"/>
            <a:ext cx="502920" cy="502920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p/>
        </p:txBody>
      </p:sp>
      <p:pic>
        <p:nvPicPr>
          <p:cNvPr id="33" name="Image 5" descr="icons/eye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559" y="3587191"/>
            <a:ext cx="241402" cy="241402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132588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Inform</a:t>
            </a:r>
            <a:endParaRPr lang="en-US" sz="1400" dirty="0"/>
          </a:p>
        </p:txBody>
      </p:sp>
      <p:sp>
        <p:nvSpPr>
          <p:cNvPr id="35" name="Text 27"/>
          <p:cNvSpPr txBox="1"/>
          <p:nvPr/>
        </p:nvSpPr>
        <p:spPr>
          <a:xfrm>
            <a:off x="731520" y="40690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Shown on the dashboard only — all readings normal.</a:t>
            </a:r>
            <a:endParaRPr lang="en-US" sz="980" dirty="0"/>
          </a:p>
        </p:txBody>
      </p:sp>
      <p:sp>
        <p:nvSpPr>
          <p:cNvPr id="36" name="Shape 28"/>
          <p:cNvSpPr/>
          <p:nvPr/>
        </p:nvSpPr>
        <p:spPr>
          <a:xfrm>
            <a:off x="4297680" y="3246120"/>
            <a:ext cx="3611880" cy="1920240"/>
          </a:xfrm>
          <a:prstGeom prst="roundRect">
            <a:avLst>
              <a:gd name="adj" fmla="val 5714"/>
            </a:avLst>
          </a:prstGeom>
          <a:solidFill>
            <a:srgbClr val="FDF0DC"/>
          </a:solidFill>
          <a:ln/>
        </p:spPr>
        <p:txBody>
          <a:bodyPr/>
          <a:p/>
        </p:txBody>
      </p:sp>
      <p:sp>
        <p:nvSpPr>
          <p:cNvPr id="37" name="Shape 29"/>
          <p:cNvSpPr/>
          <p:nvPr/>
        </p:nvSpPr>
        <p:spPr>
          <a:xfrm>
            <a:off x="4526280" y="3456432"/>
            <a:ext cx="502920" cy="502920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p/>
        </p:txBody>
      </p:sp>
      <p:pic>
        <p:nvPicPr>
          <p:cNvPr id="38" name="Image 6" descr="icons/alert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7039" y="3587191"/>
            <a:ext cx="241402" cy="241402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51663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400" dirty="0"/>
          </a:p>
        </p:txBody>
      </p:sp>
      <p:sp>
        <p:nvSpPr>
          <p:cNvPr id="40" name="Text 31"/>
          <p:cNvSpPr txBox="1"/>
          <p:nvPr/>
        </p:nvSpPr>
        <p:spPr>
          <a:xfrm>
            <a:off x="4572000" y="40690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A person is notified; the decision to act stays human.</a:t>
            </a:r>
            <a:endParaRPr lang="en-US" sz="980" dirty="0"/>
          </a:p>
        </p:txBody>
      </p:sp>
      <p:sp>
        <p:nvSpPr>
          <p:cNvPr id="41" name="Shape 32"/>
          <p:cNvSpPr/>
          <p:nvPr/>
        </p:nvSpPr>
        <p:spPr>
          <a:xfrm>
            <a:off x="8138160" y="3246120"/>
            <a:ext cx="3611880" cy="1920240"/>
          </a:xfrm>
          <a:prstGeom prst="roundRect">
            <a:avLst>
              <a:gd name="adj" fmla="val 5714"/>
            </a:avLst>
          </a:prstGeom>
          <a:solidFill>
            <a:srgbClr val="DDF3E8"/>
          </a:solidFill>
          <a:ln/>
        </p:spPr>
        <p:txBody>
          <a:bodyPr/>
          <a:p/>
        </p:txBody>
      </p:sp>
      <p:sp>
        <p:nvSpPr>
          <p:cNvPr id="42" name="Shape 33"/>
          <p:cNvSpPr/>
          <p:nvPr/>
        </p:nvSpPr>
        <p:spPr>
          <a:xfrm>
            <a:off x="8366760" y="3456432"/>
            <a:ext cx="502920" cy="502920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p/>
        </p:txBody>
      </p:sp>
      <p:pic>
        <p:nvPicPr>
          <p:cNvPr id="43" name="Image 7" descr="icons/zap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97519" y="3587191"/>
            <a:ext cx="241402" cy="241402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9006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Automate</a:t>
            </a:r>
            <a:endParaRPr lang="en-US" sz="1400" dirty="0"/>
          </a:p>
        </p:txBody>
      </p:sp>
      <p:sp>
        <p:nvSpPr>
          <p:cNvPr id="45" name="Text 35"/>
          <p:cNvSpPr txBox="1"/>
          <p:nvPr/>
        </p:nvSpPr>
        <p:spPr>
          <a:xfrm>
            <a:off x="8412480" y="40690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Safe, reversible action only — e.g. auto on/off a cooling fan when a machine overheats, saving energy, never touching the core machine itself.</a:t>
            </a:r>
            <a:endParaRPr lang="en-US" sz="980" dirty="0"/>
          </a:p>
        </p:txBody>
      </p:sp>
      <p:sp>
        <p:nvSpPr>
          <p:cNvPr id="46" name="Text 36"/>
          <p:cNvSpPr txBox="1"/>
          <p:nvPr/>
        </p:nvSpPr>
        <p:spPr>
          <a:xfrm>
            <a:off x="457200" y="5349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D2E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Why it's novel: </a:t>
            </a:r>
            <a:pPr indent="0" marL="0">
              <a:buNone/>
            </a:pPr>
            <a:r>
              <a:rPr lang="en-US" sz="1150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most hackathon monitoring projects stop at a red/green light. MachineSense explains every alert in plain language and is the only tier allowed to act — safely — on its own.</a:t>
            </a:r>
            <a:endParaRPr lang="en-US" sz="1150" dirty="0"/>
          </a:p>
        </p:txBody>
      </p:sp>
      <p:sp>
        <p:nvSpPr>
          <p:cNvPr id="47" name="Text 37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AA2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08 / 12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2E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YUVA YODHA</a:t>
            </a:r>
            <a:endParaRPr lang="en-US" sz="1050" dirty="0"/>
          </a:p>
          <a:p>
            <a:pPr indent="0" marL="0">
              <a:buNone/>
            </a:pPr>
            <a:r>
              <a:rPr lang="en-US" sz="1100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Energy Tech Hackathon 2026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9418320" y="256032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E7F3ED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9418320" y="256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2FD98A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SCHNEIDER ELECTRIC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1D"/>
                </a:solidFill>
                <a:latin typeface="Segoe UI" pitchFamily="34" charset="0"/>
                <a:ea typeface="Cambria" pitchFamily="34" charset="-122"/>
                <a:cs typeface="Cambria" pitchFamily="34" charset="-120"/>
              </a:rPr>
              <a:t>Live Dashboard — Working Prototype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Not a mockup — this is the actual running application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11247120" cy="4343400"/>
          </a:xfrm>
          <a:prstGeom prst="roundRect">
            <a:avLst>
              <a:gd name="adj" fmla="val 2105"/>
            </a:avLst>
          </a:prstGeom>
          <a:solidFill>
            <a:srgbClr val="0E1512"/>
          </a:solidFill>
          <a:ln/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pic>
        <p:nvPicPr>
          <p:cNvPr id="8" name="Image 0" descr="crops/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2011680"/>
            <a:ext cx="10844784" cy="40690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AA2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09 / 12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2E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YUVA YODHA</a:t>
            </a:r>
            <a:endParaRPr lang="en-US" sz="1050" dirty="0"/>
          </a:p>
          <a:p>
            <a:pPr indent="0" marL="0">
              <a:buNone/>
            </a:pPr>
            <a:r>
              <a:rPr lang="en-US" sz="1100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Energy Tech Hackathon 2026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9418320" y="256032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E7F3ED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9418320" y="256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2FD98A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SCHNEIDER ELECTRIC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1D"/>
                </a:solidFill>
                <a:latin typeface="Segoe UI" pitchFamily="34" charset="0"/>
                <a:ea typeface="Cambria" pitchFamily="34" charset="-122"/>
                <a:cs typeface="Cambria" pitchFamily="34" charset="-120"/>
              </a:rPr>
              <a:t>Feasibility &amp; Viability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31520" y="1920240"/>
            <a:ext cx="502920" cy="502920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p/>
        </p:txBody>
      </p:sp>
      <p:pic>
        <p:nvPicPr>
          <p:cNvPr id="8" name="Image 0" descr="icons/dolla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279" y="2050999"/>
            <a:ext cx="241402" cy="24140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71600" y="19202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Cost per machine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7432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Segoe UI"/>
              </a:rPr>
              <a:t>MachineSense Hybrid Node (ESP32 + Schneider)</a:t>
            </a:r>
          </a:p>
        </p:txBody>
      </p:sp>
      <p:sp>
        <p:nvSpPr>
          <p:cNvPr id="11" name="Shape 8"/>
          <p:cNvSpPr/>
          <p:nvPr/>
        </p:nvSpPr>
        <p:spPr>
          <a:xfrm>
            <a:off x="731520" y="3063240"/>
            <a:ext cx="502920" cy="365760"/>
          </a:xfrm>
          <a:prstGeom prst="roundRect">
            <a:avLst>
              <a:gd name="adj" fmla="val 12500"/>
            </a:avLst>
          </a:prstGeom>
          <a:solidFill>
            <a:srgbClr val="2FD98A"/>
          </a:solidFill>
          <a:ln/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731520" y="3474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₹1,800 – 2,500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40233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Commercial monitoring system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31520" y="4343400"/>
            <a:ext cx="4663440" cy="365760"/>
          </a:xfrm>
          <a:prstGeom prst="roundRect">
            <a:avLst>
              <a:gd name="adj" fmla="val 12500"/>
            </a:avLst>
          </a:prstGeom>
          <a:solidFill>
            <a:srgbClr val="D7DEDA"/>
          </a:solidFill>
          <a:ln/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731520" y="4754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₹15,000 – 25,000+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731520" y="53035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Open-source, free-to-use stack: FastAPI, React, PostgreSQL, MQTT — no licensing cost at any scale.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309360" y="169164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0B3D2E"/>
          </a:solidFill>
          <a:ln/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6583680" y="1920240"/>
            <a:ext cx="502920" cy="502920"/>
          </a:xfrm>
          <a:prstGeom prst="ellipse">
            <a:avLst/>
          </a:prstGeom>
          <a:solidFill>
            <a:srgbClr val="123A2D"/>
          </a:solidFill>
          <a:ln/>
        </p:spPr>
        <p:txBody>
          <a:bodyPr/>
          <a:p/>
        </p:txBody>
      </p:sp>
      <p:pic>
        <p:nvPicPr>
          <p:cNvPr id="19" name="Image 1" descr="icons/globe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4439" y="2050999"/>
            <a:ext cx="241402" cy="241402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7223760" y="19202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6583680" y="26060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D98A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100" dirty="0">
                <a:solidFill>
                  <a:srgbClr val="E3F3EC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Already supports multiple machines, each with its own independent baseline.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6583680" y="365760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D98A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100" dirty="0">
                <a:solidFill>
                  <a:srgbClr val="E3F3EC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A fleet overview page lets one operator watch an entire factory at a glance.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6583680" y="470916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D98A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100" dirty="0">
                <a:solidFill>
                  <a:srgbClr val="E3F3EC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Roadmap: one sensor inferring many machines (NILM), and shared learning across whole factory clusters via federated learning — without any factory's raw data leaving its building.</a:t>
            </a:r>
            <a:endParaRPr 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AA2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2E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YUVA YODHA</a:t>
            </a:r>
            <a:endParaRPr lang="en-US" sz="1050" dirty="0"/>
          </a:p>
          <a:p>
            <a:pPr indent="0" marL="0">
              <a:buNone/>
            </a:pPr>
            <a:r>
              <a:rPr lang="en-US" sz="1100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Energy Tech Hackathon 2026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9418320" y="256032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E7F3ED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9418320" y="256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2FD98A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SCHNEIDER ELECTRIC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1D"/>
                </a:solidFill>
                <a:latin typeface="Segoe UI" pitchFamily="34" charset="0"/>
                <a:ea typeface="Cambria" pitchFamily="34" charset="-122"/>
                <a:cs typeface="Cambria" pitchFamily="34" charset="-120"/>
              </a:rPr>
              <a:t>Impact &amp; Benefits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36118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13232" y="1920240"/>
            <a:ext cx="530352" cy="530352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p/>
        </p:txBody>
      </p:sp>
      <p:pic>
        <p:nvPicPr>
          <p:cNvPr id="8" name="Image 0" descr="icons/dolla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1124" y="2058132"/>
            <a:ext cx="254569" cy="254569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13232" y="254203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D2E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8–12×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713232" y="29992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cheaper than commercial monitoring, per machine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297680" y="1691640"/>
            <a:ext cx="36118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4553712" y="1920240"/>
            <a:ext cx="530352" cy="530352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p/>
        </p:txBody>
      </p:sp>
      <p:pic>
        <p:nvPicPr>
          <p:cNvPr id="13" name="Image 1" descr="icons/clo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1604" y="2058132"/>
            <a:ext cx="254569" cy="254569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553712" y="254203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D2E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Early</a:t>
            </a:r>
            <a:endParaRPr lang="en-US" sz="2400" dirty="0"/>
          </a:p>
        </p:txBody>
      </p:sp>
      <p:sp>
        <p:nvSpPr>
          <p:cNvPr id="15" name="Text 11"/>
          <p:cNvSpPr txBox="1"/>
          <p:nvPr/>
        </p:nvSpPr>
        <p:spPr>
          <a:xfrm>
            <a:off x="4553712" y="29992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fault detection, days before failure — not after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8138160" y="1691640"/>
            <a:ext cx="36118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8394192" y="1920240"/>
            <a:ext cx="530352" cy="530352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p/>
        </p:txBody>
      </p:sp>
      <p:pic>
        <p:nvPicPr>
          <p:cNvPr id="18" name="Image 2" descr="icons/trenddow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2084" y="2058132"/>
            <a:ext cx="254569" cy="254569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394192" y="254203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D2E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Lower</a:t>
            </a:r>
            <a:endParaRPr lang="en-US" sz="2400" dirty="0"/>
          </a:p>
        </p:txBody>
      </p:sp>
      <p:sp>
        <p:nvSpPr>
          <p:cNvPr id="20" name="Text 15"/>
          <p:cNvSpPr txBox="1"/>
          <p:nvPr/>
        </p:nvSpPr>
        <p:spPr>
          <a:xfrm>
            <a:off x="8394192" y="29992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unplanned downtime and energy waste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57200" y="3657600"/>
            <a:ext cx="5394960" cy="2514600"/>
          </a:xfrm>
          <a:prstGeom prst="roundRect">
            <a:avLst>
              <a:gd name="adj" fmla="val 4364"/>
            </a:avLst>
          </a:prstGeom>
          <a:solidFill>
            <a:srgbClr val="E7F3ED"/>
          </a:solidFill>
          <a:ln/>
        </p:spPr>
        <p:txBody>
          <a:bodyPr/>
          <a:p/>
        </p:txBody>
      </p:sp>
      <p:sp>
        <p:nvSpPr>
          <p:cNvPr id="22" name="Shape 17"/>
          <p:cNvSpPr/>
          <p:nvPr/>
        </p:nvSpPr>
        <p:spPr>
          <a:xfrm>
            <a:off x="731520" y="3886200"/>
            <a:ext cx="502920" cy="502920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p/>
        </p:txBody>
      </p:sp>
      <p:pic>
        <p:nvPicPr>
          <p:cNvPr id="23" name="Image 3" descr="icons/user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279" y="4016959"/>
            <a:ext cx="241402" cy="24140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371600" y="38862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2E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Who benefits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731520" y="457200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SME factory owners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Affordable visibility previously reserved for large industry.
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Machine operators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Clear, explained alerts instead of unexplained red lights.
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India's energy goals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A path for efficiency gains to reach the MSME segment PAT doesn't cover.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6309360" y="3657600"/>
            <a:ext cx="5394960" cy="2514600"/>
          </a:xfrm>
          <a:prstGeom prst="roundRect">
            <a:avLst>
              <a:gd name="adj" fmla="val 4364"/>
            </a:avLst>
          </a:prstGeom>
          <a:solidFill>
            <a:srgbClr val="E7F3ED"/>
          </a:solidFill>
          <a:ln/>
        </p:spPr>
        <p:txBody>
          <a:bodyPr/>
          <a:p/>
        </p:txBody>
      </p:sp>
      <p:sp>
        <p:nvSpPr>
          <p:cNvPr id="27" name="Shape 21"/>
          <p:cNvSpPr/>
          <p:nvPr/>
        </p:nvSpPr>
        <p:spPr>
          <a:xfrm>
            <a:off x="6583680" y="3886200"/>
            <a:ext cx="502920" cy="502920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p/>
        </p:txBody>
      </p:sp>
      <p:pic>
        <p:nvPicPr>
          <p:cNvPr id="28" name="Image 4" descr="icons/glob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4439" y="4016959"/>
            <a:ext cx="241402" cy="241402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7223760" y="38862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2E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SDG alignment</a:t>
            </a:r>
            <a:endParaRPr lang="en-US" sz="1400" dirty="0"/>
          </a:p>
        </p:txBody>
      </p:sp>
      <p:sp>
        <p:nvSpPr>
          <p:cNvPr id="30" name="Text 23"/>
          <p:cNvSpPr txBox="1"/>
          <p:nvPr/>
        </p:nvSpPr>
        <p:spPr>
          <a:xfrm>
            <a:off x="6583680" y="457200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SDG 7 — Affordable &amp; Clean Energy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Cuts industrial energy waste at the source.
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SDG 9 — Industry, Innovation &amp; Infrastructure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Brings affordable smart-monitoring infrastructure to SMEs.
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SDG 12 — Responsible Consumption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Reduces wasted energy and material per unit produced.</a:t>
            </a:r>
            <a:endParaRPr lang="en-US" sz="1050" dirty="0"/>
          </a:p>
        </p:txBody>
      </p:sp>
      <p:sp>
        <p:nvSpPr>
          <p:cNvPr id="31" name="Text 24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AA2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3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YUVA YODHA</a:t>
            </a:r>
            <a:endParaRPr lang="en-US" sz="1050" dirty="0"/>
          </a:p>
          <a:p>
            <a:pPr indent="0" marL="0">
              <a:buNone/>
            </a:pPr>
            <a:r>
              <a:rPr lang="en-US" sz="1100" dirty="0">
                <a:solidFill>
                  <a:srgbClr val="BFEBD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Energy Tech Hackathon 2026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9418320" y="256032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123A2D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9418320" y="256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2FD98A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SCHNEIDER ELECTRIC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2697480" cy="2377440"/>
          </a:xfrm>
          <a:prstGeom prst="roundRect">
            <a:avLst>
              <a:gd name="adj" fmla="val 4615"/>
            </a:avLst>
          </a:prstGeom>
          <a:solidFill>
            <a:srgbClr val="123A2D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85800" y="1920240"/>
            <a:ext cx="502920" cy="502920"/>
          </a:xfrm>
          <a:prstGeom prst="ellipse">
            <a:avLst/>
          </a:prstGeom>
          <a:solidFill>
            <a:srgbClr val="0A1310"/>
          </a:solidFill>
          <a:ln/>
        </p:spPr>
        <p:txBody>
          <a:bodyPr/>
          <a:p/>
        </p:txBody>
      </p:sp>
      <p:pic>
        <p:nvPicPr>
          <p:cNvPr id="8" name="Image 0" descr="icons/clock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559" y="2050999"/>
            <a:ext cx="241402" cy="24140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85800" y="25420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D98A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Remaining-useful-life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31089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FEDE0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LSTM/Transformer models to predict days until service, not just Normal/Warning.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337560" y="1691640"/>
            <a:ext cx="2697480" cy="2377440"/>
          </a:xfrm>
          <a:prstGeom prst="roundRect">
            <a:avLst>
              <a:gd name="adj" fmla="val 4615"/>
            </a:avLst>
          </a:prstGeom>
          <a:solidFill>
            <a:srgbClr val="123A2D"/>
          </a:solidFill>
          <a:ln/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3566160" y="1920240"/>
            <a:ext cx="502920" cy="502920"/>
          </a:xfrm>
          <a:prstGeom prst="ellipse">
            <a:avLst/>
          </a:prstGeom>
          <a:solidFill>
            <a:srgbClr val="0A1310"/>
          </a:solidFill>
          <a:ln/>
        </p:spPr>
        <p:txBody>
          <a:bodyPr/>
          <a:p/>
        </p:txBody>
      </p:sp>
      <p:pic>
        <p:nvPicPr>
          <p:cNvPr id="13" name="Image 1" descr="icons/branch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6919" y="2050999"/>
            <a:ext cx="241402" cy="24140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566160" y="25420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D98A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Federated learning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3566160" y="31089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FEDE0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Factories improve one shared fault-detection model without ever sharing raw data.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217920" y="1691640"/>
            <a:ext cx="2697480" cy="2377440"/>
          </a:xfrm>
          <a:prstGeom prst="roundRect">
            <a:avLst>
              <a:gd name="adj" fmla="val 4615"/>
            </a:avLst>
          </a:prstGeom>
          <a:solidFill>
            <a:srgbClr val="123A2D"/>
          </a:solidFill>
          <a:ln/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6446520" y="1920240"/>
            <a:ext cx="502920" cy="502920"/>
          </a:xfrm>
          <a:prstGeom prst="ellipse">
            <a:avLst/>
          </a:prstGeom>
          <a:solidFill>
            <a:srgbClr val="0A1310"/>
          </a:solidFill>
          <a:ln/>
        </p:spPr>
        <p:txBody>
          <a:bodyPr/>
          <a:p/>
        </p:txBody>
      </p:sp>
      <p:pic>
        <p:nvPicPr>
          <p:cNvPr id="18" name="Image 2" descr="icons/cpu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7279" y="2050999"/>
            <a:ext cx="241402" cy="24140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46520" y="25420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D98A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On-device AI (TinyML)</a:t>
            </a:r>
            <a:endParaRPr lang="en-US" sz="1250" dirty="0"/>
          </a:p>
        </p:txBody>
      </p:sp>
      <p:sp>
        <p:nvSpPr>
          <p:cNvPr id="20" name="Text 15"/>
          <p:cNvSpPr txBox="1"/>
          <p:nvPr/>
        </p:nvSpPr>
        <p:spPr>
          <a:xfrm>
            <a:off x="6446520" y="31089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FEDE0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Fault detection running on the sensor node itself — works even without internet.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9098280" y="1691640"/>
            <a:ext cx="2697480" cy="2377440"/>
          </a:xfrm>
          <a:prstGeom prst="roundRect">
            <a:avLst>
              <a:gd name="adj" fmla="val 4615"/>
            </a:avLst>
          </a:prstGeom>
          <a:solidFill>
            <a:srgbClr val="123A2D"/>
          </a:solidFill>
          <a:ln/>
        </p:spPr>
        <p:txBody>
          <a:bodyPr/>
          <a:p/>
        </p:txBody>
      </p:sp>
      <p:sp>
        <p:nvSpPr>
          <p:cNvPr id="22" name="Shape 17"/>
          <p:cNvSpPr/>
          <p:nvPr/>
        </p:nvSpPr>
        <p:spPr>
          <a:xfrm>
            <a:off x="9326880" y="1920240"/>
            <a:ext cx="502920" cy="502920"/>
          </a:xfrm>
          <a:prstGeom prst="ellipse">
            <a:avLst/>
          </a:prstGeom>
          <a:solidFill>
            <a:srgbClr val="0A1310"/>
          </a:solidFill>
          <a:ln/>
        </p:spPr>
        <p:txBody>
          <a:bodyPr/>
          <a:p/>
        </p:txBody>
      </p:sp>
      <p:pic>
        <p:nvPicPr>
          <p:cNvPr id="23" name="Image 3" descr="icons/grid_acc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7639" y="2050999"/>
            <a:ext cx="241402" cy="24140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326880" y="25420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D98A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Digital twin view</a:t>
            </a:r>
            <a:endParaRPr lang="en-US" sz="1250" dirty="0"/>
          </a:p>
        </p:txBody>
      </p:sp>
      <p:sp>
        <p:nvSpPr>
          <p:cNvPr id="25" name="Text 19"/>
          <p:cNvSpPr txBox="1"/>
          <p:nvPr/>
        </p:nvSpPr>
        <p:spPr>
          <a:xfrm>
            <a:off x="9326880" y="31089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FEDE0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A live visual model of the machine, not just line charts.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457200" y="4434840"/>
            <a:ext cx="11247120" cy="0"/>
          </a:xfrm>
          <a:prstGeom prst="line">
            <a:avLst/>
          </a:prstGeom>
          <a:noFill/>
          <a:ln w="12700">
            <a:solidFill>
              <a:srgbClr val="16463A"/>
            </a:solidFill>
            <a:prstDash val="solid"/>
          </a:ln>
        </p:spPr>
        <p:txBody>
          <a:bodyPr/>
          <a:p/>
        </p:txBody>
      </p:sp>
      <p:sp>
        <p:nvSpPr>
          <p:cNvPr id="27" name="Text 21"/>
          <p:cNvSpPr txBox="1"/>
          <p:nvPr/>
        </p:nvSpPr>
        <p:spPr>
          <a:xfrm>
            <a:off x="457200" y="46634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Segoe UI" pitchFamily="34" charset="0"/>
                <a:ea typeface="Cambria" pitchFamily="34" charset="-122"/>
                <a:cs typeface="Cambria" pitchFamily="34" charset="-120"/>
              </a:rPr>
              <a:t>Every sensor, every model, and every automated action exists to close the gap between “something changed” and “exactly why, and what to do about it.”</a:t>
            </a:r>
            <a:endParaRPr lang="en-US" sz="1600" dirty="0"/>
          </a:p>
        </p:txBody>
      </p:sp>
      <p:sp>
        <p:nvSpPr>
          <p:cNvPr id="28" name="Text 22"/>
          <p:cNvSpPr txBox="1"/>
          <p:nvPr/>
        </p:nvSpPr>
        <p:spPr>
          <a:xfrm>
            <a:off x="457200" y="6126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A78F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Team MachineSense  ·  Yuva Yodha Energy Tech Hackathon 2026  ·  Challenge 04</a:t>
            </a:r>
            <a:endParaRPr lang="en-US" sz="1100" dirty="0"/>
          </a:p>
        </p:txBody>
      </p:sp>
      <p:sp>
        <p:nvSpPr>
          <p:cNvPr id="29" name="Text 23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A78F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2026-10-04T06:35:18Z</dcterms:created>
  <dcterms:modified xsi:type="dcterms:W3CDTF">2026-10-04T06:35:18Z</dcterms:modified>
</cp:coreProperties>
</file>