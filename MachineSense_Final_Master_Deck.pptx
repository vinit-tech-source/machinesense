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1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17/18: 18 abrupt-fault cases = 3 machines x (bearing wear, power factor, quality) x severity 0.3 and 1.0. The one miss is the CNC quality fault at severity 0.3 (about +4% SEC, under our 8% rule). 32-35 -&gt; 0: healthy plant, 7 days, 3 machines. 100% -&gt; 0%: IM-01 forest on clean EXTR-04 producing samples vs EXTR-04 own forest. All results come from our simulator.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-sense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9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machine-sense.vercel.app/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machine-sense.vercel.app/" TargetMode="External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371600"/>
            <a:ext cx="6400800" cy="6400800"/>
          </a:xfrm>
          <a:prstGeom prst="ellipse">
            <a:avLst/>
          </a:prstGeom>
          <a:solidFill>
            <a:srgbClr val="0A1310">
              <a:alpha val="0"/>
            </a:srgbClr>
          </a:solidFill>
          <a:ln w="19050">
            <a:solidFill>
              <a:srgbClr val="164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-457200"/>
            <a:ext cx="4572000" cy="4572000"/>
          </a:xfrm>
          <a:prstGeom prst="ellipse">
            <a:avLst/>
          </a:prstGeom>
          <a:solidFill>
            <a:srgbClr val="0A1310">
              <a:alpha val="0"/>
            </a:srgbClr>
          </a:solidFill>
          <a:ln w="19050">
            <a:solidFill>
              <a:srgbClr val="164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FEBDD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AD"/>
                </a:solidFill>
              </a:rPr>
              <a:t>01 / 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2860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D1A15"/>
          </a:solidFill>
          <a:ln w="12700">
            <a:solidFill>
              <a:srgbClr val="2FD98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</a:rPr>
              <a:t>LIVE DEMO  ·  </a:t>
            </a:r>
            <a:r>
              <a:rPr lang="en-IN" dirty="0"/>
              <a:t>: </a:t>
            </a:r>
            <a:r>
              <a:rPr lang="en-IN" sz="1600" b="1" dirty="0">
                <a:hlinkClick r:id="rId3"/>
              </a:rPr>
              <a:t>https://machine-sense.vercel.app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4297680" cy="411480"/>
          </a:xfrm>
          <a:prstGeom prst="roundRect">
            <a:avLst>
              <a:gd name="adj" fmla="val 17778"/>
            </a:avLst>
          </a:prstGeom>
          <a:solidFill>
            <a:srgbClr val="123A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</a:rPr>
              <a:t>CHALLENGE 04  ·  SMART MANUFACTURING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MachineSense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97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FFFFFF"/>
                </a:solidFill>
              </a:rPr>
              <a:t>Learns each machine's normal. Explains energy waste. Advises the operator.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20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D98A"/>
                </a:solidFill>
              </a:rPr>
              <a:t>Adaptive industrial energy intelligence for SME manufacturers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23A2D"/>
          </a:solidFill>
          <a:ln w="12700">
            <a:solidFill>
              <a:srgbClr val="123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4110228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34440" y="395020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32–35 → 0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9FCBB8"/>
                </a:solidFill>
              </a:rPr>
              <a:t>false alerts per day vs fixed thresholds (Simulated)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123A2D"/>
          </a:solidFill>
          <a:ln w="12700">
            <a:solidFill>
              <a:srgbClr val="123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488746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34440" y="472744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Machine-specific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9FCBB8"/>
                </a:solidFill>
              </a:rPr>
              <a:t>learns each machine's own normal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5532120"/>
            <a:ext cx="502920" cy="502920"/>
          </a:xfrm>
          <a:prstGeom prst="ellipse">
            <a:avLst/>
          </a:prstGeom>
          <a:solidFill>
            <a:srgbClr val="123A2D"/>
          </a:solidFill>
          <a:ln w="12700">
            <a:solidFill>
              <a:srgbClr val="123A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" y="566470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34440" y="550468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Explainable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9FCBB8"/>
                </a:solidFill>
              </a:rPr>
              <a:t>probable cause, not a black-box alert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498080" y="1600200"/>
            <a:ext cx="4142232" cy="4434840"/>
          </a:xfrm>
          <a:prstGeom prst="roundRect">
            <a:avLst>
              <a:gd name="adj" fmla="val 2649"/>
            </a:avLst>
          </a:prstGeom>
          <a:solidFill>
            <a:srgbClr val="0D1A15"/>
          </a:solidFill>
          <a:ln w="15875">
            <a:solidFill>
              <a:srgbClr val="164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78181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D98A"/>
                </a:solidFill>
              </a:rPr>
              <a:t>TEAM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818120" y="2331720"/>
            <a:ext cx="640080" cy="640080"/>
          </a:xfrm>
          <a:prstGeom prst="ellipse">
            <a:avLst/>
          </a:prstGeom>
          <a:solidFill>
            <a:srgbClr val="123A2D"/>
          </a:solidFill>
          <a:ln w="1905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 txBox="1"/>
          <p:nvPr/>
        </p:nvSpPr>
        <p:spPr>
          <a:xfrm>
            <a:off x="78181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D98A"/>
                </a:solidFill>
              </a:rPr>
              <a:t>VS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6868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Vinit Shinde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rgbClr val="2FD98A"/>
                </a:solidFill>
              </a:rPr>
              <a:t>Team Lead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7818120" y="3246120"/>
            <a:ext cx="640080" cy="640080"/>
          </a:xfrm>
          <a:prstGeom prst="ellipse">
            <a:avLst/>
          </a:prstGeom>
          <a:solidFill>
            <a:srgbClr val="123A2D"/>
          </a:solidFill>
          <a:ln w="19050">
            <a:solidFill>
              <a:srgbClr val="164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 txBox="1"/>
          <p:nvPr/>
        </p:nvSpPr>
        <p:spPr>
          <a:xfrm>
            <a:off x="781812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D98A"/>
                </a:solidFill>
              </a:rPr>
              <a:t>HV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6868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Harsh Vyavahare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rgbClr val="9FCBB8"/>
                </a:solidFill>
              </a:rPr>
              <a:t>Team Member</a:t>
            </a:r>
            <a:endParaRPr lang="en-US" sz="1700" dirty="0"/>
          </a:p>
        </p:txBody>
      </p:sp>
      <p:sp>
        <p:nvSpPr>
          <p:cNvPr id="29" name="Shape 24"/>
          <p:cNvSpPr/>
          <p:nvPr/>
        </p:nvSpPr>
        <p:spPr>
          <a:xfrm>
            <a:off x="7818120" y="4160520"/>
            <a:ext cx="640080" cy="640080"/>
          </a:xfrm>
          <a:prstGeom prst="ellipse">
            <a:avLst/>
          </a:prstGeom>
          <a:solidFill>
            <a:srgbClr val="123A2D"/>
          </a:solidFill>
          <a:ln w="19050">
            <a:solidFill>
              <a:srgbClr val="164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 txBox="1"/>
          <p:nvPr/>
        </p:nvSpPr>
        <p:spPr>
          <a:xfrm>
            <a:off x="78181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D98A"/>
                </a:solidFill>
              </a:rPr>
              <a:t>DM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8686800" y="4114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Dipak Mane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rgbClr val="9FCBB8"/>
                </a:solidFill>
              </a:rPr>
              <a:t>Team Member</a:t>
            </a:r>
            <a:endParaRPr lang="en-US" sz="1700" dirty="0"/>
          </a:p>
        </p:txBody>
      </p:sp>
      <p:sp>
        <p:nvSpPr>
          <p:cNvPr id="32" name="Shape 27"/>
          <p:cNvSpPr/>
          <p:nvPr/>
        </p:nvSpPr>
        <p:spPr>
          <a:xfrm>
            <a:off x="7818120" y="5074920"/>
            <a:ext cx="640080" cy="640080"/>
          </a:xfrm>
          <a:prstGeom prst="ellipse">
            <a:avLst/>
          </a:prstGeom>
          <a:solidFill>
            <a:srgbClr val="123A2D"/>
          </a:solidFill>
          <a:ln w="19050">
            <a:solidFill>
              <a:srgbClr val="164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 txBox="1"/>
          <p:nvPr/>
        </p:nvSpPr>
        <p:spPr>
          <a:xfrm>
            <a:off x="7818120" y="507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D98A"/>
                </a:solidFill>
              </a:rPr>
              <a:t>SS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8686800" y="5029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Shivam Sapkal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rgbClr val="9FCBB8"/>
                </a:solidFill>
              </a:rPr>
              <a:t>Team Member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3D2E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</a:rPr>
              <a:t>02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</a:rPr>
              <a:t>SME factories run blind on energy and machine health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520440" cy="64008"/>
          </a:xfrm>
          <a:prstGeom prst="rect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1801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</a:rPr>
              <a:t>35–40%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of India's total energy is used by industry, so small gains at machine level add up across thousands of factories.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4256" y="1691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34256" y="1691640"/>
            <a:ext cx="3520440" cy="64008"/>
          </a:xfrm>
          <a:prstGeom prst="rect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562856" y="1801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</a:rPr>
              <a:t>~900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large factories are covered by India's PAT efficiency scheme. The MSME segment sits outside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9872" y="1691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119872" y="1691640"/>
            <a:ext cx="3520440" cy="64008"/>
          </a:xfrm>
          <a:prstGeom prst="rect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348472" y="1801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</a:rPr>
              <a:t>No labels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Labelled fault data almost never exists in SME plants, so supervised AI has nothing to learn from.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1D"/>
                </a:solidFill>
              </a:rPr>
              <a:t>The daily reality for SME manufacturers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4681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3890772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4023360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417320" y="374904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1D"/>
                </a:solidFill>
              </a:rPr>
              <a:t>Fixed thresholds fail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Normal is machine-specific and drifts: high power can be fine at high output, and a safe temperature on one machine is a warning on another.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172200" y="3749040"/>
            <a:ext cx="54681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355080" y="3890772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68" y="4023360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040880" y="374904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1D"/>
                </a:solidFill>
              </a:rPr>
              <a:t>Waste goes unnoticed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Idle running and power-factor loss only show up on the monthly electricity bill, long after the energy is gone.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548640" y="4599432"/>
            <a:ext cx="54681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731520" y="4741164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873752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417320" y="4599432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1D"/>
                </a:solidFill>
              </a:rPr>
              <a:t>Rejects burn energy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Energy spent making scrap is wasted, but meters report kWh, not kWh per good unit.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6172200" y="4599432"/>
            <a:ext cx="54681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6355080" y="4741164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668" y="4873752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040880" y="4599432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1D"/>
                </a:solidFill>
              </a:rPr>
              <a:t>Small shifts hide together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Several moderate changes in vibration, temperature and power can mean degradation while each looks harmless alone.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548640" y="5449824"/>
            <a:ext cx="54681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731520" y="5591556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" y="5724144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417320" y="5449824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1D"/>
                </a:solidFill>
              </a:rPr>
              <a:t>Diverse, ageing machines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Different makes, limited sensors and no common data standard, so one-size-fits-all monitoring does not fit.</a:t>
            </a:r>
            <a:endParaRPr lang="en-US" sz="1350" dirty="0"/>
          </a:p>
        </p:txBody>
      </p:sp>
      <p:sp>
        <p:nvSpPr>
          <p:cNvPr id="40" name="Shape 33"/>
          <p:cNvSpPr/>
          <p:nvPr/>
        </p:nvSpPr>
        <p:spPr>
          <a:xfrm>
            <a:off x="6172200" y="5449824"/>
            <a:ext cx="54681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4"/>
          <p:cNvSpPr/>
          <p:nvPr/>
        </p:nvSpPr>
        <p:spPr>
          <a:xfrm>
            <a:off x="6355080" y="5591556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7668" y="5724144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040880" y="5449824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1D"/>
                </a:solidFill>
              </a:rPr>
              <a:t>No data-science staff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SMEs need affordable, explainable answers, not raw dashboards that need an analyst to read.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3D2E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</a:rPr>
              <a:t>03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01303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</a:rPr>
              <a:t>Why Existing Approaches Fall Short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6811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8242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69164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1D"/>
                </a:solidFill>
              </a:rPr>
              <a:t>Fixed-threshold alarms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31720"/>
            <a:ext cx="5010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3"/>
                </a:solidFill>
              </a:rPr>
              <a:t>One limit for every machine. On a healthy simulated plant they raised 32–35 false alerts per day.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463040"/>
            <a:ext cx="546811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18242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40880" y="169164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1D"/>
                </a:solidFill>
              </a:rPr>
              <a:t>Generic AI models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331720"/>
            <a:ext cx="5010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3"/>
                </a:solidFill>
              </a:rPr>
              <a:t>A model trained on one machine flagged 100% of another machine's clean data (Simulated). Normal does not transfer.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46811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420166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06908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1D"/>
                </a:solidFill>
              </a:rPr>
              <a:t>Meters and dashboards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709160"/>
            <a:ext cx="5010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3"/>
                </a:solidFill>
              </a:rPr>
              <a:t>Show raw kW and kWh, but not why a reading is abnormal or what to do about it.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72200" y="3840480"/>
            <a:ext cx="546811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88" y="420166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40880" y="406908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1D"/>
                </a:solidFill>
              </a:rPr>
              <a:t>Manual inspection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0" y="4709160"/>
            <a:ext cx="5010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3"/>
                </a:solidFill>
              </a:rPr>
              <a:t>Reactive: a technician finds out after energy is wasted or quality has already dropped.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080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45309"/>
                </a:solidFill>
              </a:rPr>
              <a:t>Simulated = measured on our plant simulator, not real factories.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3D2E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</a:rPr>
              <a:t>04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</a:rPr>
              <a:t>Our Solution: MachineSense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/>
        </p:spPr>
        <p:txBody>
          <a:bodyPr wrap="square" lIns="101600" tIns="254000" rIns="254000" bIns="1016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 machine-specific intelligence layer that learns what is normal for each machine, explains the probable cause of deviations, and tells the operator what to consider doing and what it costs.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Sense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145536" y="2715768"/>
            <a:ext cx="201168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383280" y="251460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6974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6908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Understand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80176" y="2715768"/>
            <a:ext cx="201168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217920" y="251460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6974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Explain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814816" y="2715768"/>
            <a:ext cx="201168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9052560" y="251460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26974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3836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Act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48640" y="3429000"/>
            <a:ext cx="6583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 txBox="1"/>
          <p:nvPr/>
        </p:nvSpPr>
        <p:spPr>
          <a:xfrm>
            <a:off x="822960" y="3566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1D"/>
                </a:solidFill>
              </a:rPr>
              <a:t>How it solves the problem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397764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</a:rPr>
              <a:t>Learns each machine's own normal from its own data. No labelled faults needed.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</a:rPr>
              <a:t>Judges energy per good unit (SEC), not raw power.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</a:rPr>
              <a:t>Works with whatever sensors a machine has, so it retrofits easily.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63"/>
                </a:solidFill>
              </a:rPr>
              <a:t>Reports severity, confidence, Rs/h and kg CO₂/h with every alert.</a:t>
            </a:r>
            <a:r>
              <a:rPr sz="1000" b="1">
                <a:latin typeface="Segoe UI"/>
              </a:rPr>
              <a:t>
• Node Cost: ₹1,800-2,500
• Schneider Modbus Ready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406640" y="3429000"/>
            <a:ext cx="4233672" cy="2743200"/>
          </a:xfrm>
          <a:prstGeom prst="roundRect">
            <a:avLst>
              <a:gd name="adj" fmla="val 3333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 txBox="1"/>
          <p:nvPr/>
        </p:nvSpPr>
        <p:spPr>
          <a:xfrm>
            <a:off x="7680960" y="356616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FD98A"/>
                </a:solidFill>
              </a:rPr>
              <a:t>Key differentiator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The innovation is the intelligence layer, not sensors plus a dashboard. The baseline never learns its own faults, and MachineSense stays advisory: the decision to act stays with the operator.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3D2E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</a:rPr>
              <a:t>05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</a:rPr>
              <a:t>How MachineSense Works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</a:rPr>
              <a:t>End-to-end flow, from the machine to the decision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618488" cy="2377440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0528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560320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</a:rPr>
              <a:t>Machine data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154680"/>
            <a:ext cx="116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Power, PF, temperature, vibration, output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94560" y="2743200"/>
            <a:ext cx="219456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441448" y="1691640"/>
            <a:ext cx="1618488" cy="2377440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670048" y="192024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636" y="205282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624328" y="2560320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</a:rPr>
              <a:t>Processing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670048" y="3154680"/>
            <a:ext cx="116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Clean data, detect machine state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087368" y="2743200"/>
            <a:ext cx="219456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334256" y="1691640"/>
            <a:ext cx="1618488" cy="2377440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4562856" y="192024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444" y="205282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17136" y="2560320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</a:rPr>
              <a:t>Learn normal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562856" y="3154680"/>
            <a:ext cx="116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Per-machine baseline, clean data only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980176" y="2743200"/>
            <a:ext cx="219456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6227064" y="1691640"/>
            <a:ext cx="1618488" cy="2377440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455664" y="192024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2052828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409944" y="2560320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</a:rPr>
              <a:t>Detect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455664" y="3154680"/>
            <a:ext cx="116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3 detectors + persistence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872984" y="2743200"/>
            <a:ext cx="219456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8119872" y="1691640"/>
            <a:ext cx="1618488" cy="2377440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8348472" y="192024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060" y="2052828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302752" y="2560320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</a:rPr>
              <a:t>Explain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8348472" y="3154680"/>
            <a:ext cx="116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Probable cause, severity, action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9765792" y="2743200"/>
            <a:ext cx="219456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10012680" y="1691640"/>
            <a:ext cx="1618488" cy="2377440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1"/>
          <p:cNvSpPr/>
          <p:nvPr/>
        </p:nvSpPr>
        <p:spPr>
          <a:xfrm>
            <a:off x="10241280" y="192024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3868" y="2052828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195560" y="2560320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31D"/>
                </a:solidFill>
              </a:rPr>
              <a:t>Dashboard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10241280" y="3154680"/>
            <a:ext cx="116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</a:rPr>
              <a:t>Alerts, SEC, Rs and CO₂ impact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548640" y="4389120"/>
            <a:ext cx="11091672" cy="1645920"/>
          </a:xfrm>
          <a:prstGeom prst="roundRect">
            <a:avLst>
              <a:gd name="adj" fmla="val 5556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 txBox="1"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kern="0" spc="300" dirty="0">
                <a:solidFill>
                  <a:srgbClr val="2FD98A"/>
                </a:solidFill>
              </a:rPr>
              <a:t>THE LEARNING LOOP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healthy history  →  machine baseline  →  live window  →  anomaly + context</a:t>
            </a:r>
            <a:endParaRPr lang="en-US" sz="1100" dirty="0"/>
          </a:p>
          <a:p>
            <a:pPr marL="0" indent="0">
              <a:buNone/>
            </a:pPr>
            <a:r>
              <a:rPr lang="en-US" sz="1300" dirty="0">
                <a:solidFill>
                  <a:srgbClr val="C9DCD3"/>
                </a:solidFill>
              </a:rPr>
              <a:t>The baseline is updated only from clean, accepted data, so it can never learn a fault as normal.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3D2E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</a:rPr>
              <a:t>06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</a:rPr>
              <a:t>System Architecture &amp; Tech Stack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2035454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FD98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2E"/>
                </a:solidFill>
              </a:rPr>
              <a:t>Machines (ESP32 + Schneider Modbus)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06040" y="1618488"/>
            <a:ext cx="182880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812694" y="1417320"/>
            <a:ext cx="2035454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FD98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2E"/>
                </a:solidFill>
              </a:rPr>
              <a:t>Processing + state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70094" y="1618488"/>
            <a:ext cx="182880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076749" y="1417320"/>
            <a:ext cx="2035454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FD98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2E"/>
                </a:solidFill>
              </a:rPr>
              <a:t>Machine intelligence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4149" y="1618488"/>
            <a:ext cx="182880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40803" y="1417320"/>
            <a:ext cx="2035454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FD98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2E"/>
                </a:solidFill>
              </a:rPr>
              <a:t>SEC + decision engine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98203" y="1618488"/>
            <a:ext cx="182880" cy="237744"/>
          </a:xfrm>
          <a:prstGeom prst="rightArrow">
            <a:avLst/>
          </a:prstGeom>
          <a:solidFill>
            <a:srgbClr val="2FD98A"/>
          </a:solidFill>
          <a:ln w="127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9604858" y="1417320"/>
            <a:ext cx="2035454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FD98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2E"/>
                </a:solidFill>
              </a:rPr>
              <a:t>Dashboard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5440680" cy="3200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Technology (what we built)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Engine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TypeScript, dependency-free, no ML library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Statistics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Median + MAD robust z-scores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ML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Isolation Forest, one per machine (own implementation)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Energy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Linear energy-vs-output residual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Dashboard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React: live floor, machine detail, learn page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Data source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Plant simulator with fault injection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2377440"/>
          <a:ext cx="5440680" cy="3200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Hardware (retrofit concept)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Compute / network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ESP32 node with Wi-Fi; engine can run on a gateway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Power / energy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PZEM-type energy meter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Vibration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MPU6050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Temperature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DS18B20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Output / rejects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IR counters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2E"/>
                          </a:solidFill>
                        </a:rPr>
                        <a:t>Compressor pressure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63"/>
                          </a:solidFill>
                        </a:rPr>
                        <a:t>Pressure transducer (roadmap)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48640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3"/>
                </a:solidFill>
              </a:rPr>
              <a:t>Edge-capable, not yet edge-deployed. Hardware is a concept; the demo runs on a plant simulator.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3D2E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</a:rPr>
              <a:t>07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53177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</a:rPr>
              <a:t>Machine Health &amp; Energy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6811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7327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1D"/>
                </a:solidFill>
              </a:rPr>
              <a:t>Energy intelligence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86000"/>
            <a:ext cx="4937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2E"/>
                </a:solidFill>
              </a:rPr>
              <a:t>SEC per good unit — </a:t>
            </a:r>
            <a:r>
              <a:rPr lang="en-US" dirty="0">
                <a:solidFill>
                  <a:srgbClr val="5B6B63"/>
                </a:solidFill>
              </a:rPr>
              <a:t>kWh ÷ good units over the last shift, vs the machine's own personal best.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B3D2E"/>
                </a:solidFill>
              </a:rPr>
              <a:t>Idle waste — </a:t>
            </a:r>
            <a:r>
              <a:rPr lang="en-US" dirty="0">
                <a:solidFill>
                  <a:srgbClr val="5B6B63"/>
                </a:solidFill>
              </a:rPr>
              <a:t>Flagged by spell length against that machine's normal, not by "machine is idle".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B3D2E"/>
                </a:solidFill>
              </a:rPr>
              <a:t>Energy residual — </a:t>
            </a:r>
            <a:r>
              <a:rPr lang="en-US" dirty="0">
                <a:solidFill>
                  <a:srgbClr val="5B6B63"/>
                </a:solidFill>
              </a:rPr>
              <a:t>Actual kW vs the kW expected for the output.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B3D2E"/>
                </a:solidFill>
              </a:rPr>
              <a:t>Impact — </a:t>
            </a:r>
            <a:r>
              <a:rPr lang="en-US" dirty="0">
                <a:solidFill>
                  <a:srgbClr val="5B6B63"/>
                </a:solidFill>
              </a:rPr>
              <a:t>Excess Rs/h and kg CO₂/h from the machine's own data.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46811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173278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4088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1D"/>
                </a:solidFill>
              </a:rPr>
              <a:t>Machine health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286000"/>
            <a:ext cx="4937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2E"/>
                </a:solidFill>
              </a:rPr>
              <a:t>Vibration — </a:t>
            </a:r>
            <a:r>
              <a:rPr lang="en-US" dirty="0">
                <a:solidFill>
                  <a:srgbClr val="5B6B63"/>
                </a:solidFill>
              </a:rPr>
              <a:t>Rising with temperature and power, it points to mechanical wear.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B3D2E"/>
                </a:solidFill>
              </a:rPr>
              <a:t>Temperature — </a:t>
            </a:r>
            <a:r>
              <a:rPr lang="en-US" dirty="0">
                <a:solidFill>
                  <a:srgbClr val="5B6B63"/>
                </a:solidFill>
              </a:rPr>
              <a:t>Heat without a load change suggests friction or overload.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B3D2E"/>
                </a:solidFill>
              </a:rPr>
              <a:t>Power factor — </a:t>
            </a:r>
            <a:r>
              <a:rPr lang="en-US" dirty="0">
                <a:solidFill>
                  <a:srgbClr val="5B6B63"/>
                </a:solidFill>
              </a:rPr>
              <a:t>A collapse suggests an electrical or filter issue.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B3D2E"/>
                </a:solidFill>
              </a:rPr>
              <a:t>Rejects — </a:t>
            </a:r>
            <a:r>
              <a:rPr lang="en-US" dirty="0">
                <a:solidFill>
                  <a:srgbClr val="5B6B63"/>
                </a:solidFill>
              </a:rPr>
              <a:t>Quality loss inflates SEC.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B3D2E"/>
                </a:solidFill>
              </a:rPr>
              <a:t>Drift vs fault — </a:t>
            </a:r>
            <a:r>
              <a:rPr lang="en-US" dirty="0">
                <a:solidFill>
                  <a:srgbClr val="5B6B63"/>
                </a:solidFill>
              </a:rPr>
              <a:t>Slow benign change vs a fault; the operator confirms a new normal.</a:t>
            </a:r>
            <a:endParaRPr lang="en-US" dirty="0"/>
          </a:p>
        </p:txBody>
      </p:sp>
      <p:sp>
        <p:nvSpPr>
          <p:cNvPr id="16" name="Text 12"/>
          <p:cNvSpPr txBox="1"/>
          <p:nvPr/>
        </p:nvSpPr>
        <p:spPr>
          <a:xfrm>
            <a:off x="470916" y="5894672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B3D2E"/>
          </a:solidFill>
          <a:ln/>
        </p:spPr>
        <p:txBody>
          <a:bodyPr wrap="square" lIns="50800" tIns="203200" rIns="2032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Detection: median + MAD baseline, Isolation Forest, and a 6-of-10 persistence rule so a single spike never raises an alert.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3D2E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</a:rPr>
              <a:t>08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</a:rPr>
              <a:t>The AI Decision Engine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3"/>
                </a:solidFill>
              </a:rPr>
              <a:t>What makes this different from a sensor-plus-dashboard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2167128"/>
            <a:ext cx="9235440" cy="0"/>
          </a:xfrm>
          <a:prstGeom prst="line">
            <a:avLst/>
          </a:prstGeom>
          <a:noFill/>
          <a:ln w="254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280160" y="1783080"/>
            <a:ext cx="777240" cy="777240"/>
          </a:xfrm>
          <a:prstGeom prst="ellipse">
            <a:avLst/>
          </a:prstGeom>
          <a:solidFill>
            <a:srgbClr val="0B3D2E"/>
          </a:solidFill>
          <a:ln w="254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0116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1D"/>
                </a:solidFill>
              </a:rPr>
              <a:t>Baseline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566160" y="1783080"/>
            <a:ext cx="777240" cy="777240"/>
          </a:xfrm>
          <a:prstGeom prst="ellipse">
            <a:avLst/>
          </a:prstGeom>
          <a:solidFill>
            <a:srgbClr val="0B3D2E"/>
          </a:solidFill>
          <a:ln w="254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0116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0896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1D"/>
                </a:solidFill>
              </a:rPr>
              <a:t>Detect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52160" y="1783080"/>
            <a:ext cx="777240" cy="777240"/>
          </a:xfrm>
          <a:prstGeom prst="ellipse">
            <a:avLst/>
          </a:prstGeom>
          <a:solidFill>
            <a:srgbClr val="0B3D2E"/>
          </a:solidFill>
          <a:ln w="254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0116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9496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1D"/>
                </a:solidFill>
              </a:rPr>
              <a:t>Explain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138160" y="1783080"/>
            <a:ext cx="777240" cy="777240"/>
          </a:xfrm>
          <a:prstGeom prst="ellipse">
            <a:avLst/>
          </a:prstGeom>
          <a:solidFill>
            <a:srgbClr val="0B3D2E"/>
          </a:solidFill>
          <a:ln w="254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201168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8096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1D"/>
                </a:solidFill>
              </a:rPr>
              <a:t>Severity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10424160" y="1783080"/>
            <a:ext cx="777240" cy="777240"/>
          </a:xfrm>
          <a:prstGeom prst="ellipse">
            <a:avLst/>
          </a:prstGeom>
          <a:solidFill>
            <a:srgbClr val="0B3D2E"/>
          </a:solidFill>
          <a:ln w="2540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2760" y="20116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6696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1D"/>
                </a:solidFill>
              </a:rPr>
              <a:t>Recommend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48640" y="32461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7F3ED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" y="3607308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417320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1D"/>
                </a:solidFill>
              </a:rPr>
              <a:t>Inform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777240" y="41148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3"/>
                </a:solidFill>
              </a:rPr>
              <a:t>All readings are normal. Shown on the dashboard only.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4334256" y="32461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EF3C7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1"/>
          <p:cNvSpPr/>
          <p:nvPr/>
        </p:nvSpPr>
        <p:spPr>
          <a:xfrm>
            <a:off x="4562856" y="347472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5444" y="3607308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202936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1D"/>
                </a:solidFill>
              </a:rPr>
              <a:t>Alert</a:t>
            </a:r>
            <a:endParaRPr lang="en-US" sz="1700" dirty="0"/>
          </a:p>
        </p:txBody>
      </p:sp>
      <p:sp>
        <p:nvSpPr>
          <p:cNvPr id="32" name="Text 23"/>
          <p:cNvSpPr txBox="1"/>
          <p:nvPr/>
        </p:nvSpPr>
        <p:spPr>
          <a:xfrm>
            <a:off x="4562856" y="41148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3"/>
                </a:solidFill>
              </a:rPr>
              <a:t>Persistent anomaly: what changed, probable cause, severity and confidence.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8119872" y="32461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D1FAE5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8348472" y="347472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1060" y="3607308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988552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1D"/>
                </a:solidFill>
              </a:rPr>
              <a:t>Recommend</a:t>
            </a:r>
            <a:endParaRPr lang="en-US" sz="1700" dirty="0"/>
          </a:p>
        </p:txBody>
      </p:sp>
      <p:sp>
        <p:nvSpPr>
          <p:cNvPr id="37" name="Text 27"/>
          <p:cNvSpPr txBox="1"/>
          <p:nvPr/>
        </p:nvSpPr>
        <p:spPr>
          <a:xfrm>
            <a:off x="8348472" y="41148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3"/>
                </a:solidFill>
              </a:rPr>
              <a:t>Operator action with expected SEC drop, Rs/h and kg CO₂/h. Advisory only: it never stops a machine.</a:t>
            </a:r>
            <a:endParaRPr lang="en-US" sz="1250" dirty="0"/>
          </a:p>
        </p:txBody>
      </p:sp>
      <p:sp>
        <p:nvSpPr>
          <p:cNvPr id="38" name="Text 28"/>
          <p:cNvSpPr txBox="1"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1D"/>
                </a:solidFill>
              </a:rPr>
              <a:t>Most monitoring stops at a red/green light. MachineSense explains every alert with multi-parameter evidence and always says "probable cause", never "confirmed failure".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3D2E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</a:rPr>
              <a:t>09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</a:rPr>
              <a:t>Live Dashboard: Working Prototype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0B3D2E"/>
          </a:solidFill>
          <a:ln w="19050">
            <a:solidFill>
              <a:srgbClr val="2FD9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141732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</a:pPr>
            <a:r>
              <a:rPr lang="en-US" sz="2400" b="1" kern="0" spc="300" dirty="0">
                <a:solidFill>
                  <a:srgbClr val="2FD98A"/>
                </a:solidFill>
              </a:rPr>
              <a:t>TRY IT LIVE</a:t>
            </a:r>
            <a:r>
              <a:rPr lang="en-IN" sz="2400" b="1" dirty="0">
                <a:hlinkClick r:id="rId3"/>
              </a:rPr>
              <a:t> https://machine-sense.vercel.app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0" y="1645920"/>
            <a:ext cx="0" cy="731520"/>
          </a:xfrm>
          <a:prstGeom prst="line">
            <a:avLst/>
          </a:prstGeom>
          <a:noFill/>
          <a:ln w="1905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589520" y="14173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CD3"/>
                </a:solidFill>
              </a:rPr>
              <a:t>Inject bearing, power-factor or quality faults on the floor and watch MachineSense detect, explain and recommend.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1D"/>
                </a:solidFill>
              </a:rPr>
              <a:t>Try it in 3 steps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3607308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7320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1D"/>
                </a:solidFill>
              </a:rPr>
              <a:t>Open the live floor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1148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3"/>
                </a:solidFill>
              </a:rPr>
              <a:t>Five machines at a glance. EXTR-04 starts with a power-factor fault, so it already shows an alert with why, Rs/h and kg CO₂/h.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34256" y="324612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562856" y="347472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444" y="3607308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202936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1D"/>
                </a:solidFill>
              </a:rPr>
              <a:t>Inject a fault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4562856" y="41148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3"/>
                </a:solidFill>
              </a:rPr>
              <a:t>On IM-01 press Bearing wear. After the persistence window the card flips to alert and the why panel shows vibration, temperature and power moving together. Press Healthy to clear.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119872" y="324612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8348472" y="347472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360730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988552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1D"/>
                </a:solidFill>
              </a:rPr>
              <a:t>See why it is machine-specific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8348472" y="41148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3"/>
                </a:solidFill>
              </a:rPr>
              <a:t>Open the Learn page: IM-01's model flags 100% of EXTR-04's clean data, while EXTR-04's own model flags 0%.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48640" y="56235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E7F3ED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33288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43000" y="5623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2E"/>
                </a:solidFill>
              </a:rPr>
              <a:t>Live floor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3362249" y="56235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E7F3ED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0849" y="573328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956609" y="5623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2E"/>
                </a:solidFill>
              </a:rPr>
              <a:t>Machine detail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175858" y="56235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E7F3ED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4458" y="573328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770218" y="5623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2E"/>
                </a:solidFill>
              </a:rPr>
              <a:t>Why + recommendation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8989466" y="56235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E7F3ED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8066" y="5733288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583826" y="5623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2E"/>
                </a:solidFill>
              </a:rPr>
              <a:t>Learn page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63"/>
                </a:solidFill>
              </a:rPr>
              <a:t>The demo runs on a plant simulator; no hardware is connected.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3D2E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</a:rPr>
              <a:t>Feasibility &amp; Proof of Concept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5270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3D2E"/>
                </a:solidFill>
              </a:rPr>
              <a:t>32–35 → 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False alerts per day on a healthy plant (7 days, 3 machines): fixed thresholds vs final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141732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114800" y="15270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3D2E"/>
                </a:solidFill>
              </a:rPr>
              <a:t>17 / 18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331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Faults detected in 1–2 min (3 machines × 3 fault types × 2 severities), 0 false alerts first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31520" y="35387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3D2E"/>
                </a:solidFill>
              </a:rPr>
              <a:t>100% → 0%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Generic model vs own model on EXTR-04 clean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0" y="3429000"/>
            <a:ext cx="3200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114800" y="35387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3D2E"/>
                </a:solidFill>
              </a:rPr>
              <a:t>0–1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False alerts on benign drift over 3 days; 0 after operator confirm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1417320"/>
            <a:ext cx="4142232" cy="4526280"/>
          </a:xfrm>
          <a:prstGeom prst="roundRect">
            <a:avLst>
              <a:gd name="adj" fmla="val 2208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772400" y="1600200"/>
            <a:ext cx="3657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FD98A"/>
                </a:solidFill>
              </a:rPr>
              <a:t>Why it is feasible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Learns from each machine's own data; no labelled faults needed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Sensors are modular; no machine needs every sensor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Dependency-free engine, edge-capable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Low-cost retrofit hardware concept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Advisory only; existing interlocks stay in charge</a:t>
            </a:r>
            <a:r>
              <a:rPr sz="1000" b="1" dirty="0">
                <a:latin typeface="Segoe UI"/>
              </a:rPr>
              <a:t>
• Node Cost: ₹2,500 vs Commercial ₹15,000+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86400"/>
            <a:ext cx="6583680" cy="457200"/>
          </a:xfrm>
          <a:prstGeom prst="roundRect">
            <a:avLst>
              <a:gd name="adj" fmla="val 50000"/>
            </a:avLst>
          </a:prstGeom>
          <a:solidFill>
            <a:srgbClr val="E7F3ED"/>
          </a:solidFill>
          <a:ln w="15875">
            <a:solidFill>
              <a:srgbClr val="2FD98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</a:rPr>
              <a:t>Same code  ·  5 machines  ·  3 sensor sets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26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B45309"/>
                </a:solidFill>
              </a:rPr>
              <a:t>SIMULATED results from our plant simulator, not real-factory accuracy.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3D2E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3"/>
                </a:solidFill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</a:rPr>
              <a:t>Impact &amp; Benefits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7785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1D"/>
                </a:solidFill>
              </a:rPr>
              <a:t>Lower SEC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84909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Less energy per good unit, with output protected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14173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62856" y="164592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444" y="177850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17136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1D"/>
                </a:solidFill>
              </a:rPr>
              <a:t>Rs + CO₂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62856" y="274320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Excess energy quantified on every alert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9872" y="14173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48472" y="1645920"/>
            <a:ext cx="502920" cy="502920"/>
          </a:xfrm>
          <a:prstGeom prst="ellipse">
            <a:avLst/>
          </a:prstGeom>
          <a:solidFill>
            <a:srgbClr val="E7F3ED"/>
          </a:solidFill>
          <a:ln w="12700">
            <a:solidFill>
              <a:srgbClr val="E7F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177850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02752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1D"/>
                </a:solidFill>
              </a:rPr>
              <a:t>Earlier action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48472" y="2768065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</a:rPr>
              <a:t>Maintenance visibility before degradation grows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3383280"/>
            <a:ext cx="630936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9DCD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352044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6231D"/>
                </a:solidFill>
              </a:rPr>
              <a:t>Who benefits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</a:rPr>
              <a:t>SME factory owners  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5B6B63"/>
                </a:solidFill>
              </a:rPr>
              <a:t>Machine-level energy intelligence without a data team.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</a:rPr>
              <a:t>Machine operators  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5B6B63"/>
                </a:solidFill>
              </a:rPr>
              <a:t>Explained alerts and a clear next action.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</a:rPr>
              <a:t>India's energy goals  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5B6B63"/>
                </a:solidFill>
              </a:rPr>
              <a:t>Efficiency gains reaching SMEs outside PAT.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132320" y="3383280"/>
            <a:ext cx="4507992" cy="2697480"/>
          </a:xfrm>
          <a:prstGeom prst="roundRect">
            <a:avLst>
              <a:gd name="adj" fmla="val 3390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 txBox="1"/>
          <p:nvPr/>
        </p:nvSpPr>
        <p:spPr>
          <a:xfrm>
            <a:off x="7413057" y="361188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b="1" dirty="0">
                <a:solidFill>
                  <a:srgbClr val="2FD98A"/>
                </a:solidFill>
              </a:rPr>
              <a:t>SDG alignment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2FD98A"/>
                </a:solidFill>
              </a:rPr>
              <a:t>SDG 7  </a:t>
            </a:r>
            <a:r>
              <a:rPr lang="en-US" dirty="0">
                <a:solidFill>
                  <a:srgbClr val="FFFFFF"/>
                </a:solidFill>
              </a:rPr>
              <a:t>Affordable &amp; Clean Energy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2FD98A"/>
                </a:solidFill>
              </a:rPr>
              <a:t>SDG 9  </a:t>
            </a:r>
            <a:r>
              <a:rPr lang="en-US" dirty="0">
                <a:solidFill>
                  <a:srgbClr val="FFFFFF"/>
                </a:solidFill>
              </a:rPr>
              <a:t>Industry, Innovation &amp;Infrastructure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2FD98A"/>
                </a:solidFill>
              </a:rPr>
              <a:t>SDG 12  </a:t>
            </a:r>
            <a:r>
              <a:rPr lang="en-US" dirty="0">
                <a:solidFill>
                  <a:srgbClr val="FFFFFF"/>
                </a:solidFill>
              </a:rPr>
              <a:t>Responsible Consumption</a:t>
            </a:r>
            <a:endParaRPr lang="en-US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172200"/>
            <a:ext cx="10592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45309"/>
                </a:solidFill>
              </a:rPr>
              <a:t>Impact is quantified from each machine's own data; benchmark figures are Simulated. No fixed savings % is promised.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FEBDD"/>
                </a:solidFill>
              </a:rPr>
              <a:t>Energy Tech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354312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</a:rPr>
              <a:t>SCHNEIDER ELECTRIC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44652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AD"/>
                </a:solidFill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What's Next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2039112" cy="2487168"/>
          </a:xfrm>
          <a:prstGeom prst="roundRect">
            <a:avLst>
              <a:gd name="adj" fmla="val 4484"/>
            </a:avLst>
          </a:prstGeom>
          <a:solidFill>
            <a:srgbClr val="0F5A42"/>
          </a:solidFill>
          <a:ln w="1270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2130552"/>
            <a:ext cx="502920" cy="502920"/>
          </a:xfrm>
          <a:prstGeom prst="ellipse">
            <a:avLst/>
          </a:prstGeom>
          <a:solidFill>
            <a:srgbClr val="1F5A45"/>
          </a:solidFill>
          <a:ln w="1270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263140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770632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Prototype (now)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64992"/>
            <a:ext cx="15819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CD3"/>
                </a:solidFill>
              </a:rPr>
              <a:t>Engine and dashboard validated on a simulator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807208" y="1792224"/>
            <a:ext cx="2039112" cy="2596896"/>
          </a:xfrm>
          <a:prstGeom prst="roundRect">
            <a:avLst>
              <a:gd name="adj" fmla="val 4484"/>
            </a:avLst>
          </a:prstGeom>
          <a:solidFill>
            <a:srgbClr val="0B3D2E"/>
          </a:solidFill>
          <a:ln w="1270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035808" y="2020824"/>
            <a:ext cx="502920" cy="502920"/>
          </a:xfrm>
          <a:prstGeom prst="ellipse">
            <a:avLst/>
          </a:prstGeom>
          <a:solidFill>
            <a:srgbClr val="1F5A45"/>
          </a:solidFill>
          <a:ln w="1270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215341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90088" y="2660904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Real-machine pilot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035808" y="3255264"/>
            <a:ext cx="1581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CD3"/>
                </a:solidFill>
              </a:rPr>
              <a:t>1–2 machines, one day of real logs, tune the energy baseline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65776" y="1682496"/>
            <a:ext cx="2039112" cy="2706624"/>
          </a:xfrm>
          <a:prstGeom prst="roundRect">
            <a:avLst>
              <a:gd name="adj" fmla="val 4484"/>
            </a:avLst>
          </a:prstGeom>
          <a:solidFill>
            <a:srgbClr val="0B3D2E"/>
          </a:solidFill>
          <a:ln w="1270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294376" y="1911096"/>
            <a:ext cx="502920" cy="502920"/>
          </a:xfrm>
          <a:prstGeom prst="ellipse">
            <a:avLst/>
          </a:prstGeom>
          <a:solidFill>
            <a:srgbClr val="1F5A45"/>
          </a:solidFill>
          <a:ln w="1270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964" y="204368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8656" y="2551176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integration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294376" y="3145536"/>
            <a:ext cx="15819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CD3"/>
                </a:solidFill>
              </a:rPr>
              <a:t>Modbus, MQTT and CSV connectors, data validation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24344" y="1572768"/>
            <a:ext cx="2039112" cy="2816352"/>
          </a:xfrm>
          <a:prstGeom prst="roundRect">
            <a:avLst>
              <a:gd name="adj" fmla="val 4484"/>
            </a:avLst>
          </a:prstGeom>
          <a:solidFill>
            <a:srgbClr val="0B3D2E"/>
          </a:solidFill>
          <a:ln w="1270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552944" y="1801368"/>
            <a:ext cx="502920" cy="502920"/>
          </a:xfrm>
          <a:prstGeom prst="ellipse">
            <a:avLst/>
          </a:prstGeom>
          <a:solidFill>
            <a:srgbClr val="1F5A45"/>
          </a:solidFill>
          <a:ln w="1270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5532" y="193395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07224" y="244144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Edge deployment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552944" y="3035808"/>
            <a:ext cx="15819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CD3"/>
                </a:solidFill>
              </a:rPr>
              <a:t>Run the engine on a factory gateway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582912" y="1463040"/>
            <a:ext cx="2039112" cy="2926080"/>
          </a:xfrm>
          <a:prstGeom prst="roundRect">
            <a:avLst>
              <a:gd name="adj" fmla="val 4484"/>
            </a:avLst>
          </a:prstGeom>
          <a:solidFill>
            <a:srgbClr val="0B3D2E"/>
          </a:solidFill>
          <a:ln w="1270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9811512" y="1691640"/>
            <a:ext cx="502920" cy="502920"/>
          </a:xfrm>
          <a:prstGeom prst="ellipse">
            <a:avLst/>
          </a:prstGeom>
          <a:solidFill>
            <a:srgbClr val="1F5A45"/>
          </a:solidFill>
          <a:ln w="12700">
            <a:solidFill>
              <a:srgbClr val="1F5A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100" y="182422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765792" y="233172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Factory validation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9811512" y="2926080"/>
            <a:ext cx="1581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CD3"/>
                </a:solidFill>
              </a:rPr>
              <a:t>Real-plant accuracy and operator feedback loop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48463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0B3D2E"/>
          </a:solidFill>
          <a:ln w="12700">
            <a:solidFill>
              <a:srgbClr val="2FD98A"/>
            </a:solidFill>
          </a:ln>
        </p:spPr>
        <p:txBody>
          <a:bodyPr wrap="square" lIns="101600" tIns="304800" rIns="304800" bIns="10160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</a:rPr>
              <a:t>MachineSense does not say a sensor value is "bad". It learns what is normal for this machine, under these conditions, and tells the operator what to consider doing.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Live demo: </a:t>
            </a:r>
            <a:r>
              <a:rPr lang="en-IN" b="1" dirty="0">
                <a:hlinkClick r:id="rId8"/>
              </a:rPr>
              <a:t>https://machine-sense.vercel.app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1806</Words>
  <Application>Microsoft Office PowerPoint</Application>
  <PresentationFormat>Widescreen</PresentationFormat>
  <Paragraphs>272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YieldWatt</dc:title>
  <dc:subject>PptxGenJS Presentation</dc:subject>
  <dc:creator>PptxGenJS</dc:creator>
  <cp:lastModifiedBy>Vinit Shinde</cp:lastModifiedBy>
  <cp:revision>4</cp:revision>
  <dcterms:created xsi:type="dcterms:W3CDTF">2026-10-04T15:55:23Z</dcterms:created>
  <dcterms:modified xsi:type="dcterms:W3CDTF">2026-10-04T16:44:30Z</dcterms:modified>
</cp:coreProperties>
</file>