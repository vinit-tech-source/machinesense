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569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FEBD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-1371600"/>
            <a:ext cx="6400800" cy="6400800"/>
          </a:xfrm>
          <a:prstGeom prst="ellipse">
            <a:avLst/>
          </a:prstGeom>
          <a:ln w="25400">
            <a:solidFill>
              <a:srgbClr val="16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778240" y="-457200"/>
            <a:ext cx="4572000" cy="4572000"/>
          </a:xfrm>
          <a:prstGeom prst="ellipse">
            <a:avLst/>
          </a:prstGeom>
          <a:ln w="19050">
            <a:solidFill>
              <a:srgbClr val="1646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11480" y="905256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411480" y="912989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CHALLENGE 04  ·  SMART MANUFACTURING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97064" y="1481328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MachineSense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28615" y="2635614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Affordable real-time machine health and energy monitoring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for SME manufacturers.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47472" y="3740967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icons/dollar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" y="3822192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33272" y="3786687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&lt;10%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830951" y="4076236"/>
            <a:ext cx="2971800" cy="650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of commercial monitoring cost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199988" y="3703320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6" name="Image 1" descr="icons/zap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84" y="380147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32332" y="373775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3787346" y="4152447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health + energy data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74473" y="3719075"/>
            <a:ext cx="457200" cy="45720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0" name="Image 2" descr="icons/shield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7400" y="3827309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058756" y="373536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914017" y="4149311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BB8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AI, not a black-box alert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" y="5289125"/>
            <a:ext cx="948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6FA78F"/>
                </a:solidFill>
                <a:latin typeface="Segoe UI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Vinit Shinde (Team Lead)
Harsh Vyavahare
Dipak Mane
Shivam Sapkal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01 / 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12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The Problem -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6032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SME factories run blind on energy and machine health 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70637" y="1562468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562204" y="1799249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9" name="Image 0" descr="icons/z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19" y="1922805"/>
            <a:ext cx="263347" cy="26334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65983" y="1937958"/>
            <a:ext cx="11395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35–40%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36524" y="261095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of India's total energy is used by industry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69080" y="1585372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0"/>
          <p:cNvSpPr/>
          <p:nvPr/>
        </p:nvSpPr>
        <p:spPr>
          <a:xfrm>
            <a:off x="4200969" y="1805791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4" name="Image 1" descr="icons/doll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615" y="194189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955801" y="1849491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₹15–25k+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634636" y="2510483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cost of a commercial monitoring system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743596" y="1562468"/>
            <a:ext cx="3611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8" name="Shape 14"/>
          <p:cNvSpPr/>
          <p:nvPr/>
        </p:nvSpPr>
        <p:spPr>
          <a:xfrm>
            <a:off x="7877661" y="1769799"/>
            <a:ext cx="548640" cy="54864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2" descr="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4891" y="1879614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560366" y="1822109"/>
            <a:ext cx="142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~900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8227775" y="261095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large factories covered by India's PAT energy scheme — SMEs are not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355184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The daily reality for SME manufacturers : </a:t>
            </a:r>
          </a:p>
          <a:p>
            <a:pPr marL="0" indent="0">
              <a:buNone/>
            </a:pPr>
            <a:endParaRPr lang="en-US" sz="13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3" name="Text 18"/>
          <p:cNvSpPr txBox="1"/>
          <p:nvPr/>
        </p:nvSpPr>
        <p:spPr>
          <a:xfrm>
            <a:off x="685800" y="4590594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Machines fail without warning — the first sign of trouble is often a breakdown.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waste goes unnoticed until the monthly electricity bill arrives.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No affordable way to know which machine, or which fault, is costing the most.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●"/>
            </a:pPr>
            <a:r>
              <a:rPr lang="en-IN" sz="1600" b="1" dirty="0"/>
              <a:t>The "Industry 4.0" barrier:</a:t>
            </a:r>
            <a:r>
              <a:rPr lang="en-IN" sz="1600" dirty="0"/>
              <a:t> Smart manufacturing requires massive capital and IT infrastructure that SMEs don't have.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●"/>
            </a:pPr>
            <a:r>
              <a:rPr lang="en-IN" sz="1600" b="1" dirty="0"/>
              <a:t>Skilled labor shortage:</a:t>
            </a:r>
            <a:r>
              <a:rPr lang="en-IN" sz="1600" dirty="0"/>
              <a:t> Relying on human intuition to "hear or feel" faults is subjective and unscalable.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●"/>
            </a:pPr>
            <a:r>
              <a:rPr lang="en-IN" sz="1600" b="1" dirty="0"/>
              <a:t>Unplanned downtime:</a:t>
            </a:r>
            <a:r>
              <a:rPr lang="en-IN" sz="1600" dirty="0"/>
              <a:t> A single unexpected breakdown ruins production schedules and delivery deadlines.</a:t>
            </a:r>
          </a:p>
          <a:p>
            <a:pPr marL="342900" indent="-342900">
              <a:spcAft>
                <a:spcPts val="1000"/>
              </a:spcAft>
              <a:buSzPct val="100000"/>
              <a:buFontTx/>
              <a:buChar char="●"/>
            </a:pPr>
            <a:r>
              <a:rPr lang="en-IN" sz="1600" b="1" dirty="0"/>
              <a:t>Paper-based logging:</a:t>
            </a:r>
            <a:r>
              <a:rPr lang="en-IN" sz="1600" dirty="0"/>
              <a:t> Data is outdated by the time it reaches the manager's desk.</a:t>
            </a:r>
            <a:br>
              <a:rPr lang="en-US" sz="16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</a:b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Why Existing Approaches Fall Short 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dollar_pri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2186513"/>
            <a:ext cx="272125" cy="27212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Commercial SCADA / monitoring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Priced for large industry (₹15,000–25,000+ per point). Out of reach for SMEs.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126480" y="17830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6382512" y="203911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users_prima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2186513"/>
            <a:ext cx="272125" cy="27212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32320" y="2020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Government energy schemes (PAT)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0" y="2697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Only covers ~900 large "Designated Consumers." The entire MSME segment sits outside it.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71323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tool_prima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4381073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Manual inspection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Reactive, not predictive — a technician finds out after something has already gone wrong.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126480" y="39776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6382512" y="4233672"/>
            <a:ext cx="566928" cy="566928"/>
          </a:xfrm>
          <a:prstGeom prst="ellipse">
            <a:avLst/>
          </a:prstGeom>
          <a:solidFill>
            <a:srgbClr val="FBECE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barchart_prima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4381073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132320" y="42153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Basic IoT dashboards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Show raw numbers, but don't explain why an alert fired or what to actually do about it.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88367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Our Solution — MachineSense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1244547"/>
            <a:ext cx="11247120" cy="914400"/>
          </a:xfrm>
          <a:prstGeom prst="roundRect">
            <a:avLst>
              <a:gd name="adj" fmla="val 12000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822960" y="1270053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low-cost sensor node plus an explainable AI engine that tells a factory owner exactly what's wrong, what it's costing, and what to do next.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8904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How it solves the problem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52089" y="3297134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dirty="0">
                <a:latin typeface="Segoe UI"/>
              </a:rPr>
              <a:t>Retrofits any existing machine — no replacement, no PLC needed.</a:t>
            </a:r>
          </a:p>
          <a:p>
            <a:r>
              <a:rPr dirty="0">
                <a:latin typeface="Segoe UI"/>
              </a:rPr>
              <a:t>Costs under ₹2,500 per machine, versus ₹15,000–25,000+ commercially.</a:t>
            </a:r>
          </a:p>
          <a:p>
            <a:r>
              <a:rPr dirty="0">
                <a:latin typeface="Segoe UI"/>
              </a:rPr>
              <a:t>Now integrated with Schneider Electric </a:t>
            </a:r>
            <a:r>
              <a:rPr dirty="0" err="1">
                <a:latin typeface="Segoe UI"/>
              </a:rPr>
              <a:t>PowerLogi</a:t>
            </a:r>
            <a:r>
              <a:rPr lang="en-IN" dirty="0">
                <a:latin typeface="Segoe UI"/>
              </a:rPr>
              <a:t>c™</a:t>
            </a:r>
            <a:r>
              <a:rPr dirty="0">
                <a:latin typeface="Segoe UI"/>
              </a:rPr>
              <a:t> meters for enterprise-grade reliability.</a:t>
            </a:r>
          </a:p>
          <a:p>
            <a:r>
              <a:rPr dirty="0">
                <a:latin typeface="Segoe UI"/>
              </a:rPr>
              <a:t>Now integrated with Schneider Electric </a:t>
            </a:r>
            <a:r>
              <a:rPr dirty="0" err="1">
                <a:latin typeface="Segoe UI"/>
              </a:rPr>
              <a:t>PowerLogic</a:t>
            </a:r>
            <a:r>
              <a:rPr lang="en-IN" dirty="0">
                <a:latin typeface="Segoe UI"/>
              </a:rPr>
              <a:t>™</a:t>
            </a:r>
            <a:r>
              <a:rPr dirty="0">
                <a:latin typeface="Segoe UI"/>
              </a:rPr>
              <a:t> meters for enterprise-grade reliability.</a:t>
            </a:r>
          </a:p>
          <a:p>
            <a:r>
              <a:rPr dirty="0">
                <a:latin typeface="Segoe UI"/>
              </a:rPr>
              <a:t>Catches mechanical wear and energy waste before the monthly bill or a breakdown reveals it.</a:t>
            </a:r>
          </a:p>
        </p:txBody>
      </p:sp>
      <p:sp>
        <p:nvSpPr>
          <p:cNvPr id="10" name="Shape 8"/>
          <p:cNvSpPr/>
          <p:nvPr/>
        </p:nvSpPr>
        <p:spPr>
          <a:xfrm>
            <a:off x="6336792" y="2432304"/>
            <a:ext cx="5394960" cy="2103120"/>
          </a:xfrm>
          <a:prstGeom prst="roundRect">
            <a:avLst>
              <a:gd name="adj" fmla="val 5217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470112" y="253361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" name="Image 0" descr="icons/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9341" y="2665892"/>
            <a:ext cx="241402" cy="24140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223760" y="2517167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3796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Every alert explains itself (which signal, how much) instead of an unexplained warning light — and the system is allowed to act on its own only for safe, reversible actions like switching on a cooling fan.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" y="55810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615157" y="5798339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7" name="Image 1" descr="icons/activity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364" y="5933022"/>
            <a:ext cx="254569" cy="254569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517447" y="5556516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122676" y="5953787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20" name="Shape 16"/>
          <p:cNvSpPr/>
          <p:nvPr/>
        </p:nvSpPr>
        <p:spPr>
          <a:xfrm>
            <a:off x="3445550" y="5613453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1" name="Shape 17"/>
          <p:cNvSpPr/>
          <p:nvPr/>
        </p:nvSpPr>
        <p:spPr>
          <a:xfrm>
            <a:off x="3567781" y="5743475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dirty="0"/>
          </a:p>
        </p:txBody>
      </p:sp>
      <p:pic>
        <p:nvPicPr>
          <p:cNvPr id="22" name="Image 2" descr="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9970" y="5890305"/>
            <a:ext cx="254569" cy="25456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444874" y="556140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138454" y="5848320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6400800" y="5517602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dirty="0"/>
          </a:p>
        </p:txBody>
      </p:sp>
      <p:sp>
        <p:nvSpPr>
          <p:cNvPr id="26" name="Shape 21"/>
          <p:cNvSpPr/>
          <p:nvPr/>
        </p:nvSpPr>
        <p:spPr>
          <a:xfrm>
            <a:off x="6629765" y="5686766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3" descr="icons/ale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1070" y="5816085"/>
            <a:ext cx="254569" cy="254569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506858" y="548945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9056686" y="5878158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4"/>
          <p:cNvSpPr/>
          <p:nvPr/>
        </p:nvSpPr>
        <p:spPr>
          <a:xfrm>
            <a:off x="9336390" y="5498682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9586547" y="5625129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2" name="Image 4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4438" y="5741179"/>
            <a:ext cx="254569" cy="254569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492740" y="5449824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1067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How MachineSense Works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38586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End-to-end data flow, from the machine to the decision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62179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9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29" y="2688885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6187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sensors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6187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Current, voltage, vibration, temperature, RPM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13308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443484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59943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Image 1" descr="icons/wi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569" y="268888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23951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Sensor node (ESP32 &amp; Schneider Harmony Hub)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23951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Sends readings over Wi-Fi / MQTT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8110728" y="2752344"/>
            <a:ext cx="23774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5"/>
          <p:cNvSpPr/>
          <p:nvPr/>
        </p:nvSpPr>
        <p:spPr>
          <a:xfrm>
            <a:off x="8412480" y="2194560"/>
            <a:ext cx="3611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6"/>
          <p:cNvSpPr/>
          <p:nvPr/>
        </p:nvSpPr>
        <p:spPr>
          <a:xfrm>
            <a:off x="8577072" y="255574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2" descr="icons/cpu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0209" y="2688885"/>
            <a:ext cx="245791" cy="24579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217152" y="230428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217152" y="2670048"/>
            <a:ext cx="26517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Computes cost, runs anomaly detection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5916168" y="3429000"/>
            <a:ext cx="0" cy="45720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0"/>
          <p:cNvSpPr/>
          <p:nvPr/>
        </p:nvSpPr>
        <p:spPr>
          <a:xfrm>
            <a:off x="182880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Shape 21"/>
          <p:cNvSpPr/>
          <p:nvPr/>
        </p:nvSpPr>
        <p:spPr>
          <a:xfrm>
            <a:off x="199339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7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6529" y="4266225"/>
            <a:ext cx="245791" cy="245791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63347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263347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Stores every reading and alert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6144768" y="4334256"/>
            <a:ext cx="420624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5"/>
          <p:cNvSpPr/>
          <p:nvPr/>
        </p:nvSpPr>
        <p:spPr>
          <a:xfrm>
            <a:off x="6675120" y="38862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Shape 26"/>
          <p:cNvSpPr/>
          <p:nvPr/>
        </p:nvSpPr>
        <p:spPr>
          <a:xfrm>
            <a:off x="6839712" y="4133088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3" name="Image 4" descr="icons/bar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849" y="4266225"/>
            <a:ext cx="245791" cy="24579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79792" y="399592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 updates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479792" y="4361688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Pushed to the dashboard instantly</a:t>
            </a:r>
            <a:endParaRPr lang="en-US" sz="850" dirty="0"/>
          </a:p>
        </p:txBody>
      </p:sp>
      <p:sp>
        <p:nvSpPr>
          <p:cNvPr id="36" name="Shape 29"/>
          <p:cNvSpPr/>
          <p:nvPr/>
        </p:nvSpPr>
        <p:spPr>
          <a:xfrm>
            <a:off x="6035040" y="4892040"/>
            <a:ext cx="0" cy="41148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0"/>
          <p:cNvSpPr/>
          <p:nvPr/>
        </p:nvSpPr>
        <p:spPr>
          <a:xfrm>
            <a:off x="3108960" y="5303520"/>
            <a:ext cx="5852160" cy="1005840"/>
          </a:xfrm>
          <a:prstGeom prst="roundRect">
            <a:avLst>
              <a:gd name="adj" fmla="val 9091"/>
            </a:avLst>
          </a:prstGeom>
          <a:solidFill>
            <a:srgbClr val="145C4B"/>
          </a:solidFill>
          <a:ln/>
          <a:effectLst>
            <a:outerShdw blurRad="76200" dist="254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" name="Shape 31"/>
          <p:cNvSpPr/>
          <p:nvPr/>
        </p:nvSpPr>
        <p:spPr>
          <a:xfrm>
            <a:off x="3273552" y="5550408"/>
            <a:ext cx="512064" cy="512064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9" name="Image 5" descr="icons/target_acc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6689" y="5683545"/>
            <a:ext cx="245791" cy="245791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913632" y="5413248"/>
            <a:ext cx="4892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3913632" y="577900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Status, explained alerts, cost, remaining-life estimate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8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B4747880-8F0B-019A-6A7E-0CC03DCBF6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636" y="3200948"/>
            <a:ext cx="3053357" cy="2861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019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69164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ESP32 Sensors + Schneider PM5000 Modbus Meters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468880" y="2350008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2487168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594360" y="2578608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3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97480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8716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FastAPI backend (HTTP, MQTT + Modbus TCP ingestion)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68880" y="3145536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2"/>
          <p:cNvSpPr/>
          <p:nvPr/>
        </p:nvSpPr>
        <p:spPr>
          <a:xfrm>
            <a:off x="457200" y="3282696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594360" y="3374136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8" name="Image 2" descr="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49300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3282696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Anomaly detection + power/cost service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2468880" y="3941064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6"/>
          <p:cNvSpPr/>
          <p:nvPr/>
        </p:nvSpPr>
        <p:spPr>
          <a:xfrm>
            <a:off x="457200" y="4078224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Shape 17"/>
          <p:cNvSpPr/>
          <p:nvPr/>
        </p:nvSpPr>
        <p:spPr>
          <a:xfrm>
            <a:off x="594360" y="4169664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3" name="Image 3" descr="icons/ser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288536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4078224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PostgreSQL + WebSocket broadcast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2468880" y="4736592"/>
            <a:ext cx="0" cy="137160"/>
          </a:xfrm>
          <a:prstGeom prst="line">
            <a:avLst/>
          </a:prstGeom>
          <a:noFill/>
          <a:ln w="25400">
            <a:solidFill>
              <a:srgbClr val="C9DC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0"/>
          <p:cNvSpPr/>
          <p:nvPr/>
        </p:nvSpPr>
        <p:spPr>
          <a:xfrm>
            <a:off x="457200" y="4873752"/>
            <a:ext cx="58521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635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Shape 21"/>
          <p:cNvSpPr/>
          <p:nvPr/>
        </p:nvSpPr>
        <p:spPr>
          <a:xfrm>
            <a:off x="594360" y="4965192"/>
            <a:ext cx="457200" cy="45720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8" name="Image 4" descr="icons/gri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0840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487375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 dashboard (multi-machine)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6583680" y="169164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4"/>
          <p:cNvSpPr txBox="1"/>
          <p:nvPr/>
        </p:nvSpPr>
        <p:spPr>
          <a:xfrm>
            <a:off x="690372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690372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BACKEND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FastAPI, Uvicorn, SQLAlchemy 2.0, Alembic, asyncpg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903720" y="314553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DATA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PostgreSQL, MQTT (aiomqtt), WebSockets</a:t>
            </a:r>
            <a:endParaRPr lang="en-US" sz="950" dirty="0"/>
          </a:p>
        </p:txBody>
      </p:sp>
      <p:sp>
        <p:nvSpPr>
          <p:cNvPr id="34" name="Text 27"/>
          <p:cNvSpPr txBox="1"/>
          <p:nvPr/>
        </p:nvSpPr>
        <p:spPr>
          <a:xfrm>
            <a:off x="6903720" y="3913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ANALYTICS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NumPy, SciPy — MAD-based anomaly detection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6903720" y="468172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FRONTEND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React 19, TypeScript, Vite, react-router</a:t>
            </a:r>
            <a:endParaRPr lang="en-US" sz="950" dirty="0"/>
          </a:p>
        </p:txBody>
      </p:sp>
      <p:sp>
        <p:nvSpPr>
          <p:cNvPr id="36" name="Text 29"/>
          <p:cNvSpPr txBox="1"/>
          <p:nvPr/>
        </p:nvSpPr>
        <p:spPr>
          <a:xfrm>
            <a:off x="6903720" y="54498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TESTING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pytest, pytest-asyncio, httpx — 47 tests passing</a:t>
            </a:r>
            <a:endParaRPr lang="en-US" sz="950" dirty="0"/>
          </a:p>
        </p:txBody>
      </p:sp>
      <p:sp>
        <p:nvSpPr>
          <p:cNvPr id="37" name="Text 3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Machine Health &amp; Energy Intelligence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40631" y="1705709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6056" y="178288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activit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15" y="1874520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66136" y="17556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health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Vibration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Main signal for catching bearing wear early — ~50% of motor failures start here.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4015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Temperature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Rising heat with no load change signals friction or overload.</a:t>
            </a:r>
            <a:endParaRPr lang="en-US" sz="108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425696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Current + RPM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machine drawing more current or running slower than baseline hints at mechanical resistance.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449824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Detection method: median + MAD statistical baseline, with debounce logic so a single noisy reading never fires a false alert.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35040" y="1683908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126480" y="1743761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icons/z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297" y="1874520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858000" y="174737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intelligence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49728" y="2192065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Live cost tracking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Real power, accumulated kWh, and ₹ cost — updated every few seconds.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6449728" y="29946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SEC per good unit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Specific Energy Consumption (energy ÷ good units) — the real measure of efficiency, not raw kWh.</a:t>
            </a:r>
            <a:endParaRPr lang="en-US" sz="1080" dirty="0"/>
          </a:p>
        </p:txBody>
      </p:sp>
      <p:sp>
        <p:nvSpPr>
          <p:cNvPr id="20" name="Text 16"/>
          <p:cNvSpPr txBox="1"/>
          <p:nvPr/>
        </p:nvSpPr>
        <p:spPr>
          <a:xfrm>
            <a:off x="6449728" y="3966499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Day-to-day comparison —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Explains output changes using idle time, slow-running periods, and health alerts — not just a number.</a:t>
            </a:r>
            <a:endParaRPr lang="en-US" sz="1080" dirty="0"/>
          </a:p>
        </p:txBody>
      </p:sp>
      <p:sp>
        <p:nvSpPr>
          <p:cNvPr id="21" name="Text 17"/>
          <p:cNvSpPr txBox="1"/>
          <p:nvPr/>
        </p:nvSpPr>
        <p:spPr>
          <a:xfrm>
            <a:off x="6449728" y="50595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“Day 2 made 30% fewer good units than Day 1 despite equal run time — 42 minutes of unplanned stops, correlated with a vibration warning.”</a:t>
            </a:r>
            <a:endParaRPr lang="en-US" sz="950" dirty="0"/>
          </a:p>
        </p:txBody>
      </p:sp>
      <p:sp>
        <p:nvSpPr>
          <p:cNvPr id="22" name="Text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The AI Decision Engine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What makes this genuinely different from a sensor-plus-dashboard project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2648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85" y="2291121"/>
            <a:ext cx="245791" cy="245791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587752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2798064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2953512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icons/cpu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649" y="2291121"/>
            <a:ext cx="245791" cy="24579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798064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928616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5138928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294376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513" y="2291121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138928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269480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479792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7635240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8377" y="2291121"/>
            <a:ext cx="245791" cy="24579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479792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610344" y="2368296"/>
            <a:ext cx="182880" cy="109728"/>
          </a:xfrm>
          <a:prstGeom prst="rightArrow">
            <a:avLst/>
          </a:prstGeom>
          <a:solidFill>
            <a:srgbClr val="C9DCD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9820656" y="19659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9976104" y="2157984"/>
            <a:ext cx="512064" cy="512064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9241" y="2291121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0656" y="2697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45720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5"/>
          <p:cNvSpPr/>
          <p:nvPr/>
        </p:nvSpPr>
        <p:spPr>
          <a:xfrm>
            <a:off x="68580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3" name="Image 5" descr="icons/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59" y="3587191"/>
            <a:ext cx="241402" cy="24140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132588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Shown on the dashboard only — all readings normal.</a:t>
            </a:r>
            <a:endParaRPr lang="en-US" sz="980" dirty="0"/>
          </a:p>
        </p:txBody>
      </p:sp>
      <p:sp>
        <p:nvSpPr>
          <p:cNvPr id="36" name="Shape 28"/>
          <p:cNvSpPr/>
          <p:nvPr/>
        </p:nvSpPr>
        <p:spPr>
          <a:xfrm>
            <a:off x="429768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FDF0D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29"/>
          <p:cNvSpPr/>
          <p:nvPr/>
        </p:nvSpPr>
        <p:spPr>
          <a:xfrm>
            <a:off x="452628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8" name="Image 6" descr="icons/ale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7039" y="3587191"/>
            <a:ext cx="241402" cy="2414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166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400" dirty="0"/>
          </a:p>
        </p:txBody>
      </p:sp>
      <p:sp>
        <p:nvSpPr>
          <p:cNvPr id="40" name="Text 31"/>
          <p:cNvSpPr txBox="1"/>
          <p:nvPr/>
        </p:nvSpPr>
        <p:spPr>
          <a:xfrm>
            <a:off x="457200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person is notified; the decision to act stays human.</a:t>
            </a:r>
            <a:endParaRPr lang="en-US" sz="980" dirty="0"/>
          </a:p>
        </p:txBody>
      </p:sp>
      <p:sp>
        <p:nvSpPr>
          <p:cNvPr id="41" name="Shape 32"/>
          <p:cNvSpPr/>
          <p:nvPr/>
        </p:nvSpPr>
        <p:spPr>
          <a:xfrm>
            <a:off x="8138160" y="3246120"/>
            <a:ext cx="3611880" cy="1920240"/>
          </a:xfrm>
          <a:prstGeom prst="roundRect">
            <a:avLst>
              <a:gd name="adj" fmla="val 5714"/>
            </a:avLst>
          </a:prstGeom>
          <a:solidFill>
            <a:srgbClr val="DDF3E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33"/>
          <p:cNvSpPr/>
          <p:nvPr/>
        </p:nvSpPr>
        <p:spPr>
          <a:xfrm>
            <a:off x="8366760" y="3456432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3" name="Image 7" descr="icons/z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7519" y="3587191"/>
            <a:ext cx="241402" cy="241402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9006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Automate</a:t>
            </a:r>
            <a:endParaRPr lang="en-US" sz="1400" dirty="0"/>
          </a:p>
        </p:txBody>
      </p:sp>
      <p:sp>
        <p:nvSpPr>
          <p:cNvPr id="45" name="Text 35"/>
          <p:cNvSpPr txBox="1"/>
          <p:nvPr/>
        </p:nvSpPr>
        <p:spPr>
          <a:xfrm>
            <a:off x="8412480" y="40690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Safe, reversible action only — e.g. auto on/off a cooling fan when a machine overheats, saving energy, never touching the core machine itself.</a:t>
            </a:r>
            <a:endParaRPr lang="en-US" sz="980" dirty="0"/>
          </a:p>
        </p:txBody>
      </p:sp>
      <p:sp>
        <p:nvSpPr>
          <p:cNvPr id="46" name="Text 36"/>
          <p:cNvSpPr txBox="1"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Why it's novel: </a:t>
            </a: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most hackathon monitoring projects stop at a red/green light. MachineSense explains every alert in plain language and is the only tier allowed to act — safely — on its own.</a:t>
            </a:r>
            <a:endParaRPr lang="en-US" sz="1150" dirty="0"/>
          </a:p>
        </p:txBody>
      </p:sp>
      <p:sp>
        <p:nvSpPr>
          <p:cNvPr id="47" name="Text 37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Live Dashboard — Working Prototype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8" name="Image 0" descr="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79" y="20509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7160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Cost per machine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7432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MachineSense Hybrid Node (ESP32 + Schneider)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06324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FD98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9"/>
          <p:cNvSpPr txBox="1"/>
          <p:nvPr/>
        </p:nvSpPr>
        <p:spPr>
          <a:xfrm>
            <a:off x="73152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₹1,800 – 2,500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023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Commercial monitoring system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31520" y="4343400"/>
            <a:ext cx="4663440" cy="365760"/>
          </a:xfrm>
          <a:prstGeom prst="roundRect">
            <a:avLst>
              <a:gd name="adj" fmla="val 12500"/>
            </a:avLst>
          </a:prstGeom>
          <a:solidFill>
            <a:srgbClr val="D7DE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2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₹15,000 – 25,000+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" y="5303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Open-source, free-to-use stack: FastAPI, React, PostgreSQL, MQTT — no licensing cost at any scale.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30936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0B3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6583680" y="1920240"/>
            <a:ext cx="502920" cy="502920"/>
          </a:xfrm>
          <a:prstGeom prst="ellipse">
            <a:avLst/>
          </a:prstGeom>
          <a:solidFill>
            <a:srgbClr val="123A2D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9" name="Image 1" descr="icons/globe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439" y="2050999"/>
            <a:ext cx="241402" cy="24140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23760" y="1920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2606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Already supports multiple machines, each with its own independent baseline.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6583680" y="36576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fleet overview page lets one operator watch an entire factory at a glance.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583680" y="47091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800" dirty="0">
                <a:solidFill>
                  <a:srgbClr val="E3F3EC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Roadmap: one sensor inferring many machines (NILM), and shared learning across whole factory clusters via federated learning — without any factory's raw data leaving its building.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1D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icons/doll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4" y="2058132"/>
            <a:ext cx="254569" cy="25456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323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8–12×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cheaper than commercial monitoring, per machine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29768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5371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604" y="2058132"/>
            <a:ext cx="254569" cy="25456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5371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455371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fault detection, days before failure — not after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691640"/>
            <a:ext cx="36118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8394192" y="1920240"/>
            <a:ext cx="530352" cy="530352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trenddow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2084" y="2058132"/>
            <a:ext cx="254569" cy="25456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94192" y="25420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8394192" y="2999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B6B63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unplanned downtime and energy waste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3" descr="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" y="401695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SME factory owners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Affordable visibility previously reserved for large industry.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Machine operators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Clear, explained alerts instead of unexplained red lights.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India's energy goals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path for efficiency gains to reach the MSME segment PAT doesn't cover.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309360" y="36576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E7F3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1"/>
          <p:cNvSpPr/>
          <p:nvPr/>
        </p:nvSpPr>
        <p:spPr>
          <a:xfrm>
            <a:off x="6583680" y="3886200"/>
            <a:ext cx="502920" cy="502920"/>
          </a:xfrm>
          <a:prstGeom prst="ellipse">
            <a:avLst/>
          </a:prstGeom>
          <a:solidFill>
            <a:srgbClr val="0B3D2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icons/glo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4439" y="4016959"/>
            <a:ext cx="241402" cy="24140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223760" y="3886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6583680" y="457200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7 — Affordable &amp; Clean Energy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Cuts industrial energy waste at the source.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9 — Industry, Innovation &amp; Infrastructure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Brings affordable smart-monitoring infrastructure to SMEs.
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SDG 12 — Responsible Consumption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6231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Reduces wasted energy and material per unit produced.</a:t>
            </a:r>
            <a:endParaRPr lang="en-US" sz="1050" dirty="0"/>
          </a:p>
        </p:txBody>
      </p:sp>
      <p:sp>
        <p:nvSpPr>
          <p:cNvPr id="31" name="Text 24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A2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YUVA YODHA</a:t>
            </a:r>
            <a:endParaRPr lang="en-US" sz="1050" dirty="0"/>
          </a:p>
          <a:p>
            <a:pPr marL="0" indent="0">
              <a:buNone/>
            </a:pPr>
            <a:r>
              <a:rPr lang="en-US" sz="1200" dirty="0">
                <a:solidFill>
                  <a:srgbClr val="BFEBDD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Energy Tech Hackathon 2026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9418320" y="256032"/>
            <a:ext cx="2286000" cy="365760"/>
          </a:xfrm>
          <a:prstGeom prst="roundRect">
            <a:avLst>
              <a:gd name="adj" fmla="val 20000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9418320" y="2560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SCHNEIDER ELECTRIC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80323" y="1771595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8" name="Image 0" descr="icons/clock_ac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82" y="1881835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19382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Remaining-useful-life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96766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LSTM/Transformer models to predict days until service, not just Normal/Warning.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3756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435401" y="1769975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icons/branch_acc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894910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66160" y="2219089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566160" y="2761536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Factories improve one shared fault-detection model without ever sharing raw data.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21792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6315761" y="1778508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icons/cpu_acce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81835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361481" y="223809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On-device AI (TinyML)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446520" y="2812085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Fault detection running on the sensor node itself — works even without internet.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9098280" y="1691640"/>
            <a:ext cx="2697480" cy="2377440"/>
          </a:xfrm>
          <a:prstGeom prst="roundRect">
            <a:avLst>
              <a:gd name="adj" fmla="val 4615"/>
            </a:avLst>
          </a:prstGeom>
          <a:solidFill>
            <a:srgbClr val="123A2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166860" y="1778508"/>
            <a:ext cx="502920" cy="502920"/>
          </a:xfrm>
          <a:prstGeom prst="ellipse">
            <a:avLst/>
          </a:prstGeom>
          <a:solidFill>
            <a:srgbClr val="0A1310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23" name="Image 3" descr="icons/grid_acc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7619" y="1881835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97619" y="222199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98A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Digital twin view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265920" y="267919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DE0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A live visual model of the machine, not just line charts.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4322545"/>
            <a:ext cx="11247120" cy="0"/>
          </a:xfrm>
          <a:prstGeom prst="line">
            <a:avLst/>
          </a:prstGeom>
          <a:noFill/>
          <a:ln w="12700">
            <a:solidFill>
              <a:srgbClr val="1646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1"/>
          <p:cNvSpPr txBox="1"/>
          <p:nvPr/>
        </p:nvSpPr>
        <p:spPr>
          <a:xfrm>
            <a:off x="411480" y="4466844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FFFFFF"/>
                </a:solidFill>
                <a:latin typeface="Segoe UI" pitchFamily="34" charset="0"/>
                <a:ea typeface="Cambria" pitchFamily="34" charset="-122"/>
                <a:cs typeface="Cambria" pitchFamily="34" charset="-120"/>
              </a:rPr>
              <a:t>Every sensor, every model, and every automated action exists to close the gap between “something changed” and “exactly why, and what to do about it.”</a:t>
            </a:r>
            <a:endParaRPr lang="en-US" sz="2000" dirty="0"/>
          </a:p>
        </p:txBody>
      </p:sp>
      <p:sp>
        <p:nvSpPr>
          <p:cNvPr id="29" name="Text 23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FA78F"/>
                </a:solidFill>
                <a:latin typeface="Segoe U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1380</Words>
  <Application>Microsoft Office PowerPoint</Application>
  <PresentationFormat>Widescreen</PresentationFormat>
  <Paragraphs>204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Segoe UI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Vinit Shinde</cp:lastModifiedBy>
  <cp:revision>3</cp:revision>
  <dcterms:created xsi:type="dcterms:W3CDTF">2026-10-04T06:35:18Z</dcterms:created>
  <dcterms:modified xsi:type="dcterms:W3CDTF">2026-10-04T08:40:42Z</dcterms:modified>
</cp:coreProperties>
</file>