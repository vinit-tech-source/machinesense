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3" y="8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5697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3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0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3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FEBD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863840" y="-1371600"/>
            <a:ext cx="6400800" cy="6400800"/>
          </a:xfrm>
          <a:prstGeom prst="ellipse">
            <a:avLst/>
          </a:prstGeom>
          <a:ln w="25400">
            <a:solidFill>
              <a:srgbClr val="1646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0" y="-457200"/>
            <a:ext cx="4572000" cy="4572000"/>
          </a:xfrm>
          <a:prstGeom prst="ellipse">
            <a:avLst/>
          </a:prstGeom>
          <a:ln w="19050">
            <a:solidFill>
              <a:srgbClr val="1646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11480" y="905256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11480" y="912989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CHALLENGE 04  ·  SMART MANUFACTURING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7064" y="1481328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MachineSense</a:t>
            </a:r>
            <a:endParaRPr lang="en-US" sz="5600" dirty="0"/>
          </a:p>
        </p:txBody>
      </p:sp>
      <p:sp>
        <p:nvSpPr>
          <p:cNvPr id="10" name="Text 8"/>
          <p:cNvSpPr txBox="1"/>
          <p:nvPr/>
        </p:nvSpPr>
        <p:spPr>
          <a:xfrm>
            <a:off x="428615" y="2635614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Affordable real-time machine health and energy monitoring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for SME manufacturers.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7472" y="3740967"/>
            <a:ext cx="457200" cy="457200"/>
          </a:xfrm>
          <a:prstGeom prst="ellipse">
            <a:avLst/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0" descr="icons/dollar_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3822192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33272" y="3786687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&lt;10%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30951" y="4076236"/>
            <a:ext cx="2971800" cy="650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BB8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of commercial monitoring cost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99988" y="3703320"/>
            <a:ext cx="457200" cy="457200"/>
          </a:xfrm>
          <a:prstGeom prst="ellipse">
            <a:avLst/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1" descr="icons/zap_ac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380147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932332" y="373775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3787346" y="4152447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BB8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machine health + energy data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74473" y="3719075"/>
            <a:ext cx="457200" cy="457200"/>
          </a:xfrm>
          <a:prstGeom prst="ellipse">
            <a:avLst/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2" descr="icons/shield_acc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7400" y="3827309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58756" y="373536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914017" y="4149311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BB8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AI, not a black-box alert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" y="5289125"/>
            <a:ext cx="9489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6FA78F"/>
                </a:solidFill>
                <a:latin typeface="Segoe UI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Vinit Shinde (Team Lead)
Harsh Vyavahare
Dipak Mane
Shivam Sapkal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A78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12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The Problem -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60325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SME factories run blind on energy and machine health 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70637" y="1562468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8" name="Shape 6"/>
          <p:cNvSpPr/>
          <p:nvPr/>
        </p:nvSpPr>
        <p:spPr>
          <a:xfrm>
            <a:off x="562204" y="1799249"/>
            <a:ext cx="548640" cy="54864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9" name="Image 0" descr="icons/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" y="1922805"/>
            <a:ext cx="263347" cy="2633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65983" y="1937958"/>
            <a:ext cx="1139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35–40%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36524" y="261095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of India's total energy is used by industry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69080" y="1585372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Shape 10"/>
          <p:cNvSpPr/>
          <p:nvPr/>
        </p:nvSpPr>
        <p:spPr>
          <a:xfrm>
            <a:off x="4200969" y="1805791"/>
            <a:ext cx="548640" cy="54864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14" name="Image 1" descr="icons/dolla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615" y="194189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955801" y="1849491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₹15–25k+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4634636" y="2510483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cost of a commercial monitoring system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743596" y="1562468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8" name="Shape 14"/>
          <p:cNvSpPr/>
          <p:nvPr/>
        </p:nvSpPr>
        <p:spPr>
          <a:xfrm>
            <a:off x="7877661" y="1769799"/>
            <a:ext cx="548640" cy="54864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19" name="Image 2" descr="icons/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4891" y="1879614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60366" y="1822109"/>
            <a:ext cx="14249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~900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8227775" y="261095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large factories covered by India's PAT energy scheme — SMEs are not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355184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The daily reality for SME manufacturers : </a:t>
            </a:r>
          </a:p>
          <a:p>
            <a:pPr marL="0" indent="0">
              <a:buNone/>
            </a:pPr>
            <a:endParaRPr lang="en-US" sz="13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Text 18"/>
          <p:cNvSpPr txBox="1"/>
          <p:nvPr/>
        </p:nvSpPr>
        <p:spPr>
          <a:xfrm>
            <a:off x="685800" y="4590594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Machines fail without warning — the first sign of trouble is often a breakdown.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waste goes unnoticed until the monthly electricity bill arrives.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No affordable way to know which machine, or which fault, is costing the most.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●"/>
            </a:pPr>
            <a:r>
              <a:rPr lang="en-IN" sz="1600" b="1" dirty="0"/>
              <a:t>The "Industry 4.0" barrier:</a:t>
            </a:r>
            <a:r>
              <a:rPr lang="en-IN" sz="1600" dirty="0"/>
              <a:t> Smart manufacturing requires massive capital and IT infrastructure that SMEs don't have.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●"/>
            </a:pPr>
            <a:r>
              <a:rPr lang="en-IN" sz="1600" b="1" dirty="0"/>
              <a:t>Skilled labor shortage:</a:t>
            </a:r>
            <a:r>
              <a:rPr lang="en-IN" sz="1600" dirty="0"/>
              <a:t> Relying on human intuition to "hear or feel" faults is subjective and unscalable.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●"/>
            </a:pPr>
            <a:r>
              <a:rPr lang="en-IN" sz="1600" b="1" dirty="0"/>
              <a:t>Unplanned downtime:</a:t>
            </a:r>
            <a:r>
              <a:rPr lang="en-IN" sz="1600" dirty="0"/>
              <a:t> A single unexpected breakdown ruins production schedules and delivery deadlines.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●"/>
            </a:pPr>
            <a:r>
              <a:rPr lang="en-IN" sz="1600" b="1" dirty="0"/>
              <a:t>Paper-based logging:</a:t>
            </a:r>
            <a:r>
              <a:rPr lang="en-IN" sz="1600" dirty="0"/>
              <a:t> Data is outdated by the time it reaches the manager's desk.</a:t>
            </a:r>
            <a:br>
              <a:rPr lang="en-US" sz="16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</a:b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Why Existing Approaches Fall Short 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13232" y="2039112"/>
            <a:ext cx="566928" cy="566928"/>
          </a:xfrm>
          <a:prstGeom prst="ellipse">
            <a:avLst/>
          </a:prstGeom>
          <a:solidFill>
            <a:srgbClr val="FBECE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icons/dollar_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" y="2186513"/>
            <a:ext cx="272125" cy="27212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208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Commercial SCADA / monitoring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Priced for large industry (₹15,000–25,000+ per point). Out of reach for SMEs.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26480" y="178308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6382512" y="2039112"/>
            <a:ext cx="566928" cy="566928"/>
          </a:xfrm>
          <a:prstGeom prst="ellipse">
            <a:avLst/>
          </a:prstGeom>
          <a:solidFill>
            <a:srgbClr val="FBECE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icons/users_pri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9913" y="2186513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32320" y="20208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Government energy schemes (PAT)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Only covers ~900 large "Designated Consumers." The entire MSME segment sits outside it.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5720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713232" y="4233672"/>
            <a:ext cx="566928" cy="566928"/>
          </a:xfrm>
          <a:prstGeom prst="ellipse">
            <a:avLst/>
          </a:prstGeom>
          <a:solidFill>
            <a:srgbClr val="FBECE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icons/tool_pri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633" y="4381073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21538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Manual inspection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Reactive, not predictive — a technician finds out after something has already gone wrong.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12648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6382512" y="4233672"/>
            <a:ext cx="566928" cy="566928"/>
          </a:xfrm>
          <a:prstGeom prst="ellipse">
            <a:avLst/>
          </a:prstGeom>
          <a:solidFill>
            <a:srgbClr val="FBECE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3" name="Image 3" descr="icons/barchart_pri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9913" y="4381073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132320" y="421538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Basic IoT dashboards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Show raw numbers, but don't explain why an alert fired or what to actually do about it.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88367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Our Solution — MachineSense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244547"/>
            <a:ext cx="11247120" cy="914400"/>
          </a:xfrm>
          <a:prstGeom prst="roundRect">
            <a:avLst>
              <a:gd name="adj" fmla="val 12000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822960" y="1270053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 low-cost sensor node plus an explainable AI engine that tells a factory owner exactly what's wrong, what it's costing, and what to do next.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8904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How it solves the problem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52089" y="3297134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>
                <a:latin typeface="Segoe UI"/>
              </a:rPr>
              <a:t>Retrofits any existing machine — no replacement, no PLC needed.</a:t>
            </a:r>
          </a:p>
          <a:p>
            <a:r>
              <a:rPr dirty="0">
                <a:latin typeface="Segoe UI"/>
              </a:rPr>
              <a:t>Costs under ₹2,500 per machine, versus ₹15,000–25,000+ commercially.</a:t>
            </a:r>
          </a:p>
          <a:p>
            <a:r>
              <a:rPr dirty="0">
                <a:latin typeface="Segoe UI"/>
              </a:rPr>
              <a:t>Now integrated with Schneider Electric </a:t>
            </a:r>
            <a:r>
              <a:rPr dirty="0" err="1">
                <a:latin typeface="Segoe UI"/>
              </a:rPr>
              <a:t>PowerLogi</a:t>
            </a:r>
            <a:r>
              <a:rPr lang="en-IN" dirty="0">
                <a:latin typeface="Segoe UI"/>
              </a:rPr>
              <a:t>c™</a:t>
            </a:r>
            <a:r>
              <a:rPr dirty="0">
                <a:latin typeface="Segoe UI"/>
              </a:rPr>
              <a:t> meters for enterprise-grade reliability.</a:t>
            </a:r>
          </a:p>
          <a:p>
            <a:r>
              <a:rPr dirty="0">
                <a:latin typeface="Segoe UI"/>
              </a:rPr>
              <a:t>Now integrated with Schneider Electric </a:t>
            </a:r>
            <a:r>
              <a:rPr dirty="0" err="1">
                <a:latin typeface="Segoe UI"/>
              </a:rPr>
              <a:t>PowerLogic</a:t>
            </a:r>
            <a:r>
              <a:rPr lang="en-IN" dirty="0">
                <a:latin typeface="Segoe UI"/>
              </a:rPr>
              <a:t>™</a:t>
            </a:r>
            <a:r>
              <a:rPr dirty="0">
                <a:latin typeface="Segoe UI"/>
              </a:rPr>
              <a:t> meters for enterprise-grade reliability.</a:t>
            </a:r>
          </a:p>
          <a:p>
            <a:r>
              <a:rPr dirty="0">
                <a:latin typeface="Segoe UI"/>
              </a:rPr>
              <a:t>Catches mechanical wear and energy waste before the monthly bill or a breakdown reveals it.</a:t>
            </a:r>
          </a:p>
        </p:txBody>
      </p:sp>
      <p:sp>
        <p:nvSpPr>
          <p:cNvPr id="10" name="Shape 8"/>
          <p:cNvSpPr/>
          <p:nvPr/>
        </p:nvSpPr>
        <p:spPr>
          <a:xfrm>
            <a:off x="6336792" y="2432304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470112" y="2533610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0" descr="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341" y="2665892"/>
            <a:ext cx="241402" cy="24140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223760" y="2517167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Key differentiator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5204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Every alert explains itself (which signal, how much) instead of an unexplained warning light — and the system is allowed to act on its own only for safe, reversible actions like switching on a cooling fan.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0624" y="55810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615157" y="5798339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1" descr="icons/activit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933022"/>
            <a:ext cx="254569" cy="25456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517447" y="5556516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3122676" y="5953787"/>
            <a:ext cx="237744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20" name="Shape 16"/>
          <p:cNvSpPr/>
          <p:nvPr/>
        </p:nvSpPr>
        <p:spPr>
          <a:xfrm>
            <a:off x="3445550" y="5613453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21" name="Shape 17"/>
          <p:cNvSpPr/>
          <p:nvPr/>
        </p:nvSpPr>
        <p:spPr>
          <a:xfrm>
            <a:off x="3567781" y="5743475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dirty="0"/>
          </a:p>
        </p:txBody>
      </p:sp>
      <p:pic>
        <p:nvPicPr>
          <p:cNvPr id="22" name="Image 2" descr="icons/cpu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970" y="5890305"/>
            <a:ext cx="254569" cy="25456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444874" y="556140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138454" y="5848320"/>
            <a:ext cx="237744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0"/>
          <p:cNvSpPr/>
          <p:nvPr/>
        </p:nvSpPr>
        <p:spPr>
          <a:xfrm>
            <a:off x="6400800" y="5517602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26" name="Shape 21"/>
          <p:cNvSpPr/>
          <p:nvPr/>
        </p:nvSpPr>
        <p:spPr>
          <a:xfrm>
            <a:off x="6629765" y="5686766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3" descr="icons/aler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070" y="5816085"/>
            <a:ext cx="254569" cy="254569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06858" y="548945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9056686" y="5878158"/>
            <a:ext cx="237744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4"/>
          <p:cNvSpPr/>
          <p:nvPr/>
        </p:nvSpPr>
        <p:spPr>
          <a:xfrm>
            <a:off x="9336390" y="5498682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9586547" y="5625129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4" descr="icons/z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4438" y="5741179"/>
            <a:ext cx="254569" cy="254569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0492740" y="5449824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0672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How MachineSense Works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85865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End-to-end data flow, from the machine to the decision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611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21792" y="2555748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icons/activ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29" y="2688885"/>
            <a:ext cx="245791" cy="2457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61872" y="23042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2670048"/>
            <a:ext cx="2651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Current, voltage, vibration, temperature, RPM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133088" y="2752344"/>
            <a:ext cx="237744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434840" y="2194560"/>
            <a:ext cx="3611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4599432" y="2555748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1" descr="icons/wifi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69" y="2688885"/>
            <a:ext cx="245791" cy="24579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39512" y="23042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Sensor node (ESP32 &amp; Schneider Harmony Hub)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239512" y="2670048"/>
            <a:ext cx="2651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Sends readings over Wi-Fi / MQTT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110728" y="2752344"/>
            <a:ext cx="237744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8412480" y="2194560"/>
            <a:ext cx="3611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6"/>
          <p:cNvSpPr/>
          <p:nvPr/>
        </p:nvSpPr>
        <p:spPr>
          <a:xfrm>
            <a:off x="8577072" y="2555748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2" descr="icons/cpu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209" y="2688885"/>
            <a:ext cx="245791" cy="24579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17152" y="23042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Backend processing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217152" y="2670048"/>
            <a:ext cx="2651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Computes cost, runs anomaly detection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5916168" y="3429000"/>
            <a:ext cx="0" cy="457200"/>
          </a:xfrm>
          <a:prstGeom prst="line">
            <a:avLst/>
          </a:prstGeom>
          <a:noFill/>
          <a:ln w="25400">
            <a:solidFill>
              <a:srgbClr val="C9D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0"/>
          <p:cNvSpPr/>
          <p:nvPr/>
        </p:nvSpPr>
        <p:spPr>
          <a:xfrm>
            <a:off x="1828800" y="3886200"/>
            <a:ext cx="4206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1"/>
          <p:cNvSpPr/>
          <p:nvPr/>
        </p:nvSpPr>
        <p:spPr>
          <a:xfrm>
            <a:off x="1993392" y="4133088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3" descr="icons/serve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6529" y="4266225"/>
            <a:ext cx="245791" cy="245791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633472" y="39959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2633472" y="436168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Stores every reading and alert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6144768" y="4334256"/>
            <a:ext cx="420624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6675120" y="3886200"/>
            <a:ext cx="4206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6"/>
          <p:cNvSpPr/>
          <p:nvPr/>
        </p:nvSpPr>
        <p:spPr>
          <a:xfrm>
            <a:off x="6839712" y="4133088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4" descr="icons/barchar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2849" y="4266225"/>
            <a:ext cx="245791" cy="245791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479792" y="39959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Live updates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479792" y="436168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Pushed to the dashboard instantly</a:t>
            </a:r>
            <a:endParaRPr lang="en-US" sz="850" dirty="0"/>
          </a:p>
        </p:txBody>
      </p:sp>
      <p:sp>
        <p:nvSpPr>
          <p:cNvPr id="36" name="Shape 29"/>
          <p:cNvSpPr/>
          <p:nvPr/>
        </p:nvSpPr>
        <p:spPr>
          <a:xfrm>
            <a:off x="6035040" y="4892040"/>
            <a:ext cx="0" cy="411480"/>
          </a:xfrm>
          <a:prstGeom prst="line">
            <a:avLst/>
          </a:prstGeom>
          <a:noFill/>
          <a:ln w="25400">
            <a:solidFill>
              <a:srgbClr val="C9D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0"/>
          <p:cNvSpPr/>
          <p:nvPr/>
        </p:nvSpPr>
        <p:spPr>
          <a:xfrm>
            <a:off x="3108960" y="5303520"/>
            <a:ext cx="5852160" cy="1005840"/>
          </a:xfrm>
          <a:prstGeom prst="roundRect">
            <a:avLst>
              <a:gd name="adj" fmla="val 9091"/>
            </a:avLst>
          </a:prstGeom>
          <a:solidFill>
            <a:srgbClr val="145C4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1"/>
          <p:cNvSpPr/>
          <p:nvPr/>
        </p:nvSpPr>
        <p:spPr>
          <a:xfrm>
            <a:off x="3273552" y="5550408"/>
            <a:ext cx="512064" cy="512064"/>
          </a:xfrm>
          <a:prstGeom prst="ellipse">
            <a:avLst/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9" name="Image 5" descr="icons/target_acc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6689" y="5683545"/>
            <a:ext cx="245791" cy="245791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913632" y="541324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3913632" y="5779008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Status, explained alerts, cost, remaining-life estimate</a:t>
            </a:r>
            <a:endParaRPr lang="en-US" sz="850" dirty="0"/>
          </a:p>
        </p:txBody>
      </p:sp>
      <p:sp>
        <p:nvSpPr>
          <p:cNvPr id="42" name="Text 3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800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B4747880-8F0B-019A-6A7E-0CC03DCBF6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46688" y="341895"/>
            <a:ext cx="3053357" cy="2861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System Architecture &amp; Tech Stack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852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635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icons/activ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9019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6916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ESP32 Sensors + Schneider PM5000 Modbus Meters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468880" y="2350008"/>
            <a:ext cx="0" cy="137160"/>
          </a:xfrm>
          <a:prstGeom prst="line">
            <a:avLst/>
          </a:prstGeom>
          <a:noFill/>
          <a:ln w="25400">
            <a:solidFill>
              <a:srgbClr val="C9D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57200" y="2487168"/>
            <a:ext cx="5852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635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594360" y="2578608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icons/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69748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FastAPI backend (HTTP, MQTT + Modbus TCP ingestion)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468880" y="3145536"/>
            <a:ext cx="0" cy="137160"/>
          </a:xfrm>
          <a:prstGeom prst="line">
            <a:avLst/>
          </a:prstGeom>
          <a:noFill/>
          <a:ln w="25400">
            <a:solidFill>
              <a:srgbClr val="C9D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457200" y="3282696"/>
            <a:ext cx="5852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635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594360" y="3374136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icons/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493008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88720" y="3282696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Anomaly detection + power/cost service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2468880" y="3941064"/>
            <a:ext cx="0" cy="137160"/>
          </a:xfrm>
          <a:prstGeom prst="line">
            <a:avLst/>
          </a:prstGeom>
          <a:noFill/>
          <a:ln w="25400">
            <a:solidFill>
              <a:srgbClr val="C9D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4078224"/>
            <a:ext cx="5852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635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594360" y="4169664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icons/serve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4288536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88720" y="40782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PostgreSQL + WebSocket broadcast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2468880" y="4736592"/>
            <a:ext cx="0" cy="137160"/>
          </a:xfrm>
          <a:prstGeom prst="line">
            <a:avLst/>
          </a:prstGeom>
          <a:noFill/>
          <a:ln w="25400">
            <a:solidFill>
              <a:srgbClr val="C9D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57200" y="4873752"/>
            <a:ext cx="5852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635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594360" y="4965192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icons/gri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084064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88720" y="487375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React dashboard (multi-machine)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583680" y="16916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4"/>
          <p:cNvSpPr txBox="1"/>
          <p:nvPr/>
        </p:nvSpPr>
        <p:spPr>
          <a:xfrm>
            <a:off x="690372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6903720" y="23774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BACKEND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FastAPI, Uvicorn, SQLAlchemy 2.0, Alembic, asyncpg</a:t>
            </a:r>
            <a:endParaRPr lang="en-US" sz="950" dirty="0"/>
          </a:p>
        </p:txBody>
      </p:sp>
      <p:sp>
        <p:nvSpPr>
          <p:cNvPr id="33" name="Text 26"/>
          <p:cNvSpPr txBox="1"/>
          <p:nvPr/>
        </p:nvSpPr>
        <p:spPr>
          <a:xfrm>
            <a:off x="6903720" y="31455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DATA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PostgreSQL, MQTT (aiomqtt), WebSockets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6903720" y="391363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ANALYTICS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NumPy, SciPy — MAD-based anomaly detection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6903720" y="4681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FRONTEND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React 19, TypeScript, Vite, react-router</a:t>
            </a:r>
            <a:endParaRPr lang="en-US" sz="950" dirty="0"/>
          </a:p>
        </p:txBody>
      </p:sp>
      <p:sp>
        <p:nvSpPr>
          <p:cNvPr id="36" name="Text 29"/>
          <p:cNvSpPr txBox="1"/>
          <p:nvPr/>
        </p:nvSpPr>
        <p:spPr>
          <a:xfrm>
            <a:off x="6903720" y="544982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TESTING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pytest, pytest-asyncio, httpx — 47 tests passing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Machine Health &amp; Energy Intelligence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40631" y="1705709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6056" y="1782880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icons/activ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15" y="1874520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66136" y="17556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Machine health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Vibration —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Main signal for catching bearing wear early — ~50% of motor failures start here.</a:t>
            </a:r>
            <a:endParaRPr lang="en-US" sz="108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4015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Temperature —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Rising heat with no load change signals friction or overload.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42569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Current + RPM —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 machine drawing more current or running slower than baseline hints at mechanical resistance.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44982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Detection method: median + MAD statistical baseline, with debounce logic so a single noisy reading never fires a false alert.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35040" y="1683908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6126480" y="1743761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1" descr="icons/z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297" y="1874520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858000" y="174737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intelligence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9728" y="2192065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Live cost tracking —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Real power, accumulated kWh, and ₹ cost — updated every few seconds.</a:t>
            </a:r>
            <a:endParaRPr lang="en-US" sz="1080" dirty="0"/>
          </a:p>
        </p:txBody>
      </p:sp>
      <p:sp>
        <p:nvSpPr>
          <p:cNvPr id="19" name="Text 15"/>
          <p:cNvSpPr txBox="1"/>
          <p:nvPr/>
        </p:nvSpPr>
        <p:spPr>
          <a:xfrm>
            <a:off x="6449728" y="29946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SEC per good unit —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Specific Energy Consumption (energy ÷ good units) — the real measure of efficiency, not raw kWh.</a:t>
            </a:r>
            <a:endParaRPr lang="en-US" sz="1080" dirty="0"/>
          </a:p>
        </p:txBody>
      </p:sp>
      <p:sp>
        <p:nvSpPr>
          <p:cNvPr id="20" name="Text 16"/>
          <p:cNvSpPr txBox="1"/>
          <p:nvPr/>
        </p:nvSpPr>
        <p:spPr>
          <a:xfrm>
            <a:off x="6449728" y="3966499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Day-to-day comparison —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Explains output changes using idle time, slow-running periods, and health alerts — not just a number.</a:t>
            </a:r>
            <a:endParaRPr lang="en-US" sz="1080" dirty="0"/>
          </a:p>
        </p:txBody>
      </p:sp>
      <p:sp>
        <p:nvSpPr>
          <p:cNvPr id="21" name="Text 17"/>
          <p:cNvSpPr txBox="1"/>
          <p:nvPr/>
        </p:nvSpPr>
        <p:spPr>
          <a:xfrm>
            <a:off x="6449728" y="50595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“Day 2 made 30% fewer good units than Day 1 despite equal run time — 42 minutes of unplanned stops, correlated with a vibration warning.”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The AI Decision Engine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What makes this genuinely different from a sensor-plus-dashboard project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612648" y="2157984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0" descr="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85" y="2291121"/>
            <a:ext cx="245791" cy="2457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87752" y="2368296"/>
            <a:ext cx="182880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2798064" y="19659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953512" y="2157984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1" descr="icons/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6649" y="2291121"/>
            <a:ext cx="245791" cy="24579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798064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928616" y="2368296"/>
            <a:ext cx="182880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5138928" y="19659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4"/>
          <p:cNvSpPr/>
          <p:nvPr/>
        </p:nvSpPr>
        <p:spPr>
          <a:xfrm>
            <a:off x="5294376" y="2157984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9" name="Image 2" descr="icons/ale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513" y="2291121"/>
            <a:ext cx="245791" cy="24579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38928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7269480" y="2368296"/>
            <a:ext cx="182880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7479792" y="19659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7635240" y="2157984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Image 3" descr="icons/c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8377" y="2291121"/>
            <a:ext cx="245791" cy="24579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610344" y="2368296"/>
            <a:ext cx="182880" cy="109728"/>
          </a:xfrm>
          <a:prstGeom prst="rightArrow">
            <a:avLst/>
          </a:prstGeom>
          <a:solidFill>
            <a:srgbClr val="C9DCD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1"/>
          <p:cNvSpPr/>
          <p:nvPr/>
        </p:nvSpPr>
        <p:spPr>
          <a:xfrm>
            <a:off x="9820656" y="19659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2"/>
          <p:cNvSpPr/>
          <p:nvPr/>
        </p:nvSpPr>
        <p:spPr>
          <a:xfrm>
            <a:off x="9976104" y="2157984"/>
            <a:ext cx="512064" cy="512064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4" descr="icons/z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9241" y="2291121"/>
            <a:ext cx="245791" cy="24579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820656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57200" y="3246120"/>
            <a:ext cx="3611880" cy="1920240"/>
          </a:xfrm>
          <a:prstGeom prst="roundRect">
            <a:avLst>
              <a:gd name="adj" fmla="val 5714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25"/>
          <p:cNvSpPr/>
          <p:nvPr/>
        </p:nvSpPr>
        <p:spPr>
          <a:xfrm>
            <a:off x="685800" y="3456432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5" descr="icons/ey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" y="3587191"/>
            <a:ext cx="241402" cy="2414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3258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Inform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0690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Shown on the dashboard only — all readings normal.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4297680" y="3246120"/>
            <a:ext cx="3611880" cy="1920240"/>
          </a:xfrm>
          <a:prstGeom prst="roundRect">
            <a:avLst>
              <a:gd name="adj" fmla="val 5714"/>
            </a:avLst>
          </a:prstGeom>
          <a:solidFill>
            <a:srgbClr val="FDF0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29"/>
          <p:cNvSpPr/>
          <p:nvPr/>
        </p:nvSpPr>
        <p:spPr>
          <a:xfrm>
            <a:off x="4526280" y="3456432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8" name="Image 6" descr="icons/ale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3587191"/>
            <a:ext cx="241402" cy="24140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166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4572000" y="40690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 person is notified; the decision to act stays human.</a:t>
            </a:r>
            <a:endParaRPr lang="en-US" sz="980" dirty="0"/>
          </a:p>
        </p:txBody>
      </p:sp>
      <p:sp>
        <p:nvSpPr>
          <p:cNvPr id="41" name="Shape 32"/>
          <p:cNvSpPr/>
          <p:nvPr/>
        </p:nvSpPr>
        <p:spPr>
          <a:xfrm>
            <a:off x="8138160" y="3246120"/>
            <a:ext cx="3611880" cy="1920240"/>
          </a:xfrm>
          <a:prstGeom prst="roundRect">
            <a:avLst>
              <a:gd name="adj" fmla="val 5714"/>
            </a:avLst>
          </a:prstGeom>
          <a:solidFill>
            <a:srgbClr val="DDF3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33"/>
          <p:cNvSpPr/>
          <p:nvPr/>
        </p:nvSpPr>
        <p:spPr>
          <a:xfrm>
            <a:off x="8366760" y="3456432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3" name="Image 7" descr="icons/z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7519" y="3587191"/>
            <a:ext cx="241402" cy="241402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00684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Automate</a:t>
            </a:r>
            <a:endParaRPr lang="en-US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8412480" y="40690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Safe, reversible action only — e.g. auto on/off a cooling fan when a machine overheats, saving energy, never touching the core machine itself.</a:t>
            </a:r>
            <a:endParaRPr lang="en-US" sz="980" dirty="0"/>
          </a:p>
        </p:txBody>
      </p:sp>
      <p:sp>
        <p:nvSpPr>
          <p:cNvPr id="46" name="Text 36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Why it's novel: </a:t>
            </a: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most hackathon monitoring projects stop at a red/green light. MachineSense explains every alert in plain language and is the only tier allowed to act — safely — on its own.</a:t>
            </a:r>
            <a:endParaRPr lang="en-US" sz="1150" dirty="0"/>
          </a:p>
        </p:txBody>
      </p:sp>
      <p:sp>
        <p:nvSpPr>
          <p:cNvPr id="47" name="Text 37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Live Dashboard — Working Prototype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Feasibility &amp; Viability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icons/doll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920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Cost per machine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MachineSense Hybrid Node (ESP32 + Schneider)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063240"/>
            <a:ext cx="502920" cy="365760"/>
          </a:xfrm>
          <a:prstGeom prst="roundRect">
            <a:avLst>
              <a:gd name="adj" fmla="val 12500"/>
            </a:avLst>
          </a:prstGeom>
          <a:solidFill>
            <a:srgbClr val="2FD9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73152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₹1,800 – 2,500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023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Commercial monitoring system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31520" y="4343400"/>
            <a:ext cx="4663440" cy="365760"/>
          </a:xfrm>
          <a:prstGeom prst="roundRect">
            <a:avLst>
              <a:gd name="adj" fmla="val 12500"/>
            </a:avLst>
          </a:prstGeom>
          <a:solidFill>
            <a:srgbClr val="D7D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73152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₹15,000 – 25,000+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303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Open-source, free-to-use stack: FastAPI, React, PostgreSQL, MQTT — no licensing cost at any scale.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309360" y="169164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123A2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1" descr="icons/globe_ac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23760" y="1920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Already supports multiple machines, each with its own independent baseline.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3657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 fleet overview page lets one operator watch an entire factory at a glance.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583680" y="4709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dirty="0">
                <a:solidFill>
                  <a:srgbClr val="E3F3EC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Roadmap: one sensor inferring many machines (NILM), and shared learning across whole factory clusters via federated learning — without any factory's raw data leaving its building.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31D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Impact &amp; Benefits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8644" y="1319022"/>
            <a:ext cx="3611880" cy="136442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597103" y="1360771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icons/doll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8662"/>
            <a:ext cx="254569" cy="2545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9064" y="139217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8–12×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035493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cheaper than commercial monitoring, per machine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48100" y="1150924"/>
            <a:ext cx="3611880" cy="1480397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Shape 9"/>
          <p:cNvSpPr/>
          <p:nvPr/>
        </p:nvSpPr>
        <p:spPr>
          <a:xfrm>
            <a:off x="4422146" y="1230733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13" name="Image 1" descr="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1701" y="1331581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57892" y="1226091"/>
            <a:ext cx="1046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Early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4716878" y="21168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fault detection, days before failure — not after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22416" y="1127192"/>
            <a:ext cx="3611880" cy="1461026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7" name="Shape 13"/>
          <p:cNvSpPr/>
          <p:nvPr/>
        </p:nvSpPr>
        <p:spPr>
          <a:xfrm>
            <a:off x="8097251" y="1193689"/>
            <a:ext cx="530352" cy="53035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18" name="Image 2" descr="icons/trenddow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2833" y="1314676"/>
            <a:ext cx="254569" cy="25456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69772" y="1173213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Lower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8583328" y="2014937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B63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unplanned downtime and energy waste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32736" y="3183974"/>
            <a:ext cx="5394960" cy="3445426"/>
          </a:xfrm>
          <a:prstGeom prst="roundRect">
            <a:avLst>
              <a:gd name="adj" fmla="val 4364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490118" y="3183974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23" name="Image 3" descr="icons/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877" y="3348885"/>
            <a:ext cx="241402" cy="2414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89064" y="2873989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251857" y="4129447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SME factory owners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Affordable visibility previously reserved for large industry.
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Machine operators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Clear, explained alerts instead of unexplained red lights.
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India's energy goals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 path for efficiency gains to reach the MSME segment PAT doesn't cover.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80394" y="3227634"/>
            <a:ext cx="5394960" cy="3246317"/>
          </a:xfrm>
          <a:prstGeom prst="roundRect">
            <a:avLst>
              <a:gd name="adj" fmla="val 4364"/>
            </a:avLst>
          </a:prstGeom>
          <a:solidFill>
            <a:srgbClr val="E7F3E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7" name="Shape 21"/>
          <p:cNvSpPr/>
          <p:nvPr/>
        </p:nvSpPr>
        <p:spPr>
          <a:xfrm>
            <a:off x="6583680" y="3886200"/>
            <a:ext cx="502920" cy="50292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4" descr="icons/glob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4439" y="4016959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835140" y="2795739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D2E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SDG alignment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119281" y="4090857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SDG 7 — Affordable &amp; Clean Energy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Cuts industrial energy waste at the source.
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SDG 9 — Industry, Innovation &amp; Infrastructure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Brings affordable smart-monitoring infrastructure to SMEs.
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SDG 12 — Responsible Consumption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6231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Reduces wasted energy and material per unit produced.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AA2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3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YUVA YODHA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BFEBDD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Energy Tech Hackathon 2026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9418320" y="256032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418320" y="256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SCHNEIDER ELECTRIC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80323" y="1771595"/>
            <a:ext cx="502920" cy="502920"/>
          </a:xfrm>
          <a:prstGeom prst="ellipse">
            <a:avLst/>
          </a:prstGeom>
          <a:solidFill>
            <a:srgbClr val="0A1310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8" name="Image 0" descr="icons/clock_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82" y="1881835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19382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Remaining-useful-life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96766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LSTM/Transformer models to predict days until service, not just Normal/Warning.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37560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435401" y="1769975"/>
            <a:ext cx="502920" cy="502920"/>
          </a:xfrm>
          <a:prstGeom prst="ellipse">
            <a:avLst/>
          </a:prstGeom>
          <a:solidFill>
            <a:srgbClr val="0A131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icons/branch_ac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894910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66160" y="2219089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3566160" y="2761536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Factories improve one shared fault-detection model without ever sharing raw data.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217920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315761" y="1778508"/>
            <a:ext cx="502920" cy="502920"/>
          </a:xfrm>
          <a:prstGeom prst="ellipse">
            <a:avLst/>
          </a:prstGeom>
          <a:solidFill>
            <a:srgbClr val="0A131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icons/cpu_acc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81835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61481" y="223809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On-device AI (TinyML)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2812085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Fault detection running on the sensor node itself — works even without internet.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9098280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123A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9166860" y="1778508"/>
            <a:ext cx="502920" cy="502920"/>
          </a:xfrm>
          <a:prstGeom prst="ellipse">
            <a:avLst/>
          </a:prstGeom>
          <a:solidFill>
            <a:srgbClr val="0A1310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23" name="Image 3" descr="icons/grid_acc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7619" y="1881835"/>
            <a:ext cx="241402" cy="2414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97619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D98A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Digital twin view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265920" y="267919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DE0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A live visual model of the machine, not just line charts.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548640" y="4322545"/>
            <a:ext cx="11247120" cy="0"/>
          </a:xfrm>
          <a:prstGeom prst="line">
            <a:avLst/>
          </a:prstGeom>
          <a:noFill/>
          <a:ln w="12700">
            <a:solidFill>
              <a:srgbClr val="1646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1"/>
          <p:cNvSpPr txBox="1"/>
          <p:nvPr/>
        </p:nvSpPr>
        <p:spPr>
          <a:xfrm>
            <a:off x="411480" y="446684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Segoe UI" pitchFamily="34" charset="0"/>
                <a:ea typeface="Cambria" pitchFamily="34" charset="-122"/>
                <a:cs typeface="Cambria" pitchFamily="34" charset="-120"/>
              </a:rPr>
              <a:t>Every sensor, every model, and every automated action exists to close the gap between “something changed” and “exactly why, and what to do about it.”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A78F"/>
                </a:solidFill>
                <a:latin typeface="Segoe U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</TotalTime>
  <Words>1380</Words>
  <Application>Microsoft Office PowerPoint</Application>
  <PresentationFormat>Widescreen</PresentationFormat>
  <Paragraphs>204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Segoe UI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Vinit Shinde</cp:lastModifiedBy>
  <cp:revision>4</cp:revision>
  <dcterms:created xsi:type="dcterms:W3CDTF">2026-10-04T06:35:18Z</dcterms:created>
  <dcterms:modified xsi:type="dcterms:W3CDTF">2026-10-04T16:20:54Z</dcterms:modified>
</cp:coreProperties>
</file>