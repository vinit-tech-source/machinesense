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3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569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22.png"/><Relationship Id="rId7" Type="http://schemas.openxmlformats.org/officeDocument/2006/relationships/image" Target="../media/image4.png"/><Relationship Id="rId8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5" Type="http://schemas.openxmlformats.org/officeDocument/2006/relationships/image" Target="../media/image26.png"/><Relationship Id="rId6" Type="http://schemas.openxmlformats.org/officeDocument/2006/relationships/image" Target="../media/image6.png"/><Relationship Id="rId7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3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F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23A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863840" y="-1371600"/>
            <a:ext cx="6400800" cy="6400800"/>
          </a:xfrm>
          <a:prstGeom prst="ellipse">
            <a:avLst/>
          </a:prstGeom>
          <a:ln w="25400">
            <a:solidFill>
              <a:srgbClr val="1646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778240" y="-457200"/>
            <a:ext cx="4572000" cy="4572000"/>
          </a:xfrm>
          <a:prstGeom prst="ellipse">
            <a:avLst/>
          </a:prstGeom>
          <a:ln w="19050">
            <a:solidFill>
              <a:srgbClr val="1646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11480" y="905256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123A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576072" y="8961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04  ·  SMART MANUFACTURING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97064" y="1481328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MachineSense</a:t>
            </a:r>
            <a:endParaRPr lang="en-US" sz="5600" dirty="0"/>
          </a:p>
        </p:txBody>
      </p:sp>
      <p:sp>
        <p:nvSpPr>
          <p:cNvPr id="10" name="Text 8"/>
          <p:cNvSpPr txBox="1"/>
          <p:nvPr/>
        </p:nvSpPr>
        <p:spPr>
          <a:xfrm>
            <a:off x="428615" y="2635614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real-time machine health and energy monitoring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SME manufacturers.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7472" y="3740967"/>
            <a:ext cx="457200" cy="457200"/>
          </a:xfrm>
          <a:prstGeom prst="ellipse">
            <a:avLst/>
          </a:prstGeom>
          <a:solidFill>
            <a:srgbClr val="123A2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0" descr="icons/dollar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3822192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033272" y="3786687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&lt;10%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96112" y="3901255"/>
            <a:ext cx="2971800" cy="650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commercial monitoring cost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199988" y="3703320"/>
            <a:ext cx="457200" cy="457200"/>
          </a:xfrm>
          <a:prstGeom prst="ellipse">
            <a:avLst/>
          </a:prstGeom>
          <a:solidFill>
            <a:srgbClr val="123A2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1" descr="icons/zap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3801474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932332" y="373775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3795172" y="3997679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health + energy data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274473" y="3719075"/>
            <a:ext cx="457200" cy="457200"/>
          </a:xfrm>
          <a:prstGeom prst="ellipse">
            <a:avLst/>
          </a:prstGeom>
          <a:solidFill>
            <a:srgbClr val="123A2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2" descr="icons/shield_acc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7400" y="3827309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058756" y="373536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914017" y="3908937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not a black-box alert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804672" y="5289125"/>
            <a:ext cx="948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6FA7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Vinit Shinde (Team Lead)
Harsh Vyavahare
Dipak Mane
Shivam Sapkal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A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factories run blind on energy and machine health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icons/z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2382926"/>
            <a:ext cx="263347" cy="26334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35–40%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3649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total energy is used by industry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9659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572000" y="224028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icons/dolla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646" y="238292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0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₹15–25k+</a:t>
            </a:r>
            <a:endParaRPr lang="en-US" sz="26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33649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a commercial monitoring system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138160" y="19659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8412480" y="224028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icon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5126" y="2382926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12480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~900</a:t>
            </a:r>
            <a:endParaRPr lang="en-US" sz="2600" dirty="0"/>
          </a:p>
        </p:txBody>
      </p:sp>
      <p:sp>
        <p:nvSpPr>
          <p:cNvPr id="21" name="Text 16"/>
          <p:cNvSpPr txBox="1"/>
          <p:nvPr/>
        </p:nvSpPr>
        <p:spPr>
          <a:xfrm>
            <a:off x="8412480" y="33649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factories covered by India's PAT energy scheme — SMEs are not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day to day on the factory floor: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44805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fail without warning — the first sign of trouble is often a breakdown.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waste goes unnoticed until the monthly electricity bill arrives.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affordable way to know which machine, or which fault, is costing the most.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Existing Approaches Fall Short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13232" y="2039112"/>
            <a:ext cx="566928" cy="566928"/>
          </a:xfrm>
          <a:prstGeom prst="ellipse">
            <a:avLst/>
          </a:prstGeom>
          <a:solidFill>
            <a:srgbClr val="FBECE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icons/dollar_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33" y="2186513"/>
            <a:ext cx="272125" cy="2721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20208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SCADA / monitoring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697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for large industry (₹15,000–25,000+ per point). Out of reach for SMEs.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26480" y="17830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382512" y="2039112"/>
            <a:ext cx="566928" cy="566928"/>
          </a:xfrm>
          <a:prstGeom prst="ellipse">
            <a:avLst/>
          </a:prstGeom>
          <a:solidFill>
            <a:srgbClr val="FBECE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icons/users_pri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913" y="2186513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32320" y="20208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energy schemes (PAT)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0" y="2697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covers ~900 large "Designated Consumers." The entire MSME segment sits outside it.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39776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713232" y="4233672"/>
            <a:ext cx="566928" cy="566928"/>
          </a:xfrm>
          <a:prstGeom prst="ellipse">
            <a:avLst/>
          </a:prstGeom>
          <a:solidFill>
            <a:srgbClr val="FBECE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icons/tool_pri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633" y="4381073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63040" y="42153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731520" y="4892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not predictive — a technician finds out after something has already gone wrong.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126480" y="39776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6382512" y="4233672"/>
            <a:ext cx="566928" cy="566928"/>
          </a:xfrm>
          <a:prstGeom prst="ellipse">
            <a:avLst/>
          </a:prstGeom>
          <a:solidFill>
            <a:srgbClr val="FBECE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icons/barchart_prima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9913" y="4381073"/>
            <a:ext cx="272125" cy="27212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132320" y="42153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IoT dashboards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0" y="4892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raw numbers, but don't explain why an alert fired or what to actually do about it.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 — MachineSense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1247120" cy="914400"/>
          </a:xfrm>
          <a:prstGeom prst="roundRect">
            <a:avLst>
              <a:gd name="adj" fmla="val 12000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22960" y="1600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00" b="0">
                <a:latin typeface="Calibri"/>
              </a:rPr>
              <a:t>An adaptive machine-monitoring and AI system that turns available factory data into contextual insights, anomaly detection, and actionable recommendations.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457200" y="2700000"/>
            <a:ext cx="2600000" cy="2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00" b="0">
                <a:latin typeface="Calibri"/>
              </a:rPr>
              <a:t>01 — CONNECT</a:t>
            </a:r>
          </a:p>
          <a:p>
            <a:r>
              <a:rPr sz="1400" b="0">
                <a:latin typeface="Calibri"/>
              </a:rPr>
              <a:t>Collect machine data</a:t>
            </a:r>
          </a:p>
          <a:p>
            <a:r>
              <a:rPr sz="1400" b="0">
                <a:latin typeface="Calibri"/>
              </a:rPr>
              <a:t>• Voltage, current, power, energy</a:t>
            </a:r>
          </a:p>
          <a:p>
            <a:r>
              <a:rPr sz="1400" b="0">
                <a:latin typeface="Calibri"/>
              </a:rPr>
              <a:t>• Production / part count</a:t>
            </a:r>
          </a:p>
          <a:p>
            <a:r>
              <a:rPr sz="1400" b="0">
                <a:latin typeface="Calibri"/>
              </a:rPr>
              <a:t>• Reject count</a:t>
            </a:r>
          </a:p>
          <a:p>
            <a:r>
              <a:rPr sz="1400" b="0">
                <a:latin typeface="Calibri"/>
              </a:rPr>
              <a:t>• Temperature, vibration</a:t>
            </a:r>
          </a:p>
          <a:p>
            <a:r>
              <a:rPr sz="1400" b="0">
                <a:latin typeface="Calibri"/>
              </a:rPr>
              <a:t>• Optional RPM and pressure</a:t>
            </a:r>
          </a:p>
        </p:txBody>
      </p:sp>
      <p:sp>
        <p:nvSpPr>
          <p:cNvPr id="13" name="Text 10"/>
          <p:cNvSpPr txBox="1"/>
          <p:nvPr/>
        </p:nvSpPr>
        <p:spPr>
          <a:xfrm>
            <a:off x="457200" y="5100000"/>
            <a:ext cx="108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00" b="0">
                <a:latin typeface="Calibri"/>
              </a:rPr>
              <a:t>Key Differentiator:</a:t>
            </a:r>
          </a:p>
          <a:p>
            <a:r>
              <a:rPr sz="1400" b="0">
                <a:latin typeface="Calibri"/>
              </a:rPr>
              <a:t>Machine-specific contextual intelligence. The system does not rely on fixed universal thresholds. It learns each machine's normal behaviour and combines baseline analysis, SEC, anomaly scores, and supporting signals before generating a recommendation.</a:t>
            </a:r>
          </a:p>
        </p:txBody>
      </p:sp>
      <p:sp>
        <p:nvSpPr>
          <p:cNvPr id="14" name="Text 11"/>
          <p:cNvSpPr txBox="1"/>
          <p:nvPr/>
        </p:nvSpPr>
        <p:spPr>
          <a:xfrm>
            <a:off x="3200000" y="2700000"/>
            <a:ext cx="2600000" cy="2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00" b="0">
                <a:latin typeface="Calibri"/>
              </a:rPr>
              <a:t>02 — UNDERSTAND</a:t>
            </a:r>
          </a:p>
          <a:p>
            <a:r>
              <a:rPr sz="1400" b="0">
                <a:latin typeface="Calibri"/>
              </a:rPr>
              <a:t>Learn machine behaviour</a:t>
            </a:r>
          </a:p>
          <a:p>
            <a:r>
              <a:rPr sz="1400" b="0">
                <a:latin typeface="Calibri"/>
              </a:rPr>
              <a:t>• Learn normal behaviour for each machine</a:t>
            </a:r>
          </a:p>
          <a:p>
            <a:r>
              <a:rPr sz="1400" b="0">
                <a:latin typeface="Calibri"/>
              </a:rPr>
              <a:t>• Identify operating state</a:t>
            </a:r>
          </a:p>
          <a:p>
            <a:r>
              <a:rPr sz="1400" b="0">
                <a:latin typeface="Calibri"/>
              </a:rPr>
              <a:t>• Establish machine-specific baseline</a:t>
            </a:r>
          </a:p>
          <a:p>
            <a:r>
              <a:rPr sz="1400" b="0">
                <a:latin typeface="Calibri"/>
              </a:rPr>
              <a:t>• Calculate energy per good unit (SEC)</a:t>
            </a:r>
          </a:p>
        </p:txBody>
      </p:sp>
      <p:sp>
        <p:nvSpPr>
          <p:cNvPr id="18" name="Text 14"/>
          <p:cNvSpPr txBox="1"/>
          <p:nvPr/>
        </p:nvSpPr>
        <p:spPr>
          <a:xfrm>
            <a:off x="5942800" y="2700000"/>
            <a:ext cx="2600000" cy="2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00" b="0">
                <a:latin typeface="Calibri"/>
              </a:rPr>
              <a:t>03 — DETECT</a:t>
            </a:r>
          </a:p>
          <a:p>
            <a:r>
              <a:rPr sz="1400" b="0">
                <a:latin typeface="Calibri"/>
              </a:rPr>
              <a:t>Identify meaningful anomalies</a:t>
            </a:r>
          </a:p>
          <a:p>
            <a:r>
              <a:rPr sz="1400" b="0">
                <a:latin typeface="Calibri"/>
              </a:rPr>
              <a:t>• ML-based anomaly detection</a:t>
            </a:r>
          </a:p>
          <a:p>
            <a:r>
              <a:rPr sz="1400" b="0">
                <a:latin typeface="Calibri"/>
              </a:rPr>
              <a:t>• Compare live data with baseline</a:t>
            </a:r>
          </a:p>
          <a:p>
            <a:r>
              <a:rPr sz="1400" b="0">
                <a:latin typeface="Calibri"/>
              </a:rPr>
              <a:t>• Correlate multiple signals</a:t>
            </a:r>
          </a:p>
          <a:p>
            <a:r>
              <a:rPr sz="1400" b="0">
                <a:latin typeface="Calibri"/>
              </a:rPr>
              <a:t>• Consider production and operating conditions</a:t>
            </a:r>
          </a:p>
          <a:p>
            <a:r>
              <a:rPr sz="1400" b="0">
                <a:latin typeface="Calibri"/>
              </a:rPr>
              <a:t>• Reduce false alarms</a:t>
            </a:r>
          </a:p>
        </p:txBody>
      </p:sp>
      <p:sp>
        <p:nvSpPr>
          <p:cNvPr id="23" name="Text 18"/>
          <p:cNvSpPr txBox="1"/>
          <p:nvPr/>
        </p:nvSpPr>
        <p:spPr>
          <a:xfrm>
            <a:off x="8685600" y="2700000"/>
            <a:ext cx="2600000" cy="2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00" b="0">
                <a:latin typeface="Calibri"/>
              </a:rPr>
              <a:t>04 — ACT</a:t>
            </a:r>
          </a:p>
          <a:p>
            <a:r>
              <a:rPr sz="1400" b="0">
                <a:latin typeface="Calibri"/>
              </a:rPr>
              <a:t>Turn insights into action</a:t>
            </a:r>
          </a:p>
          <a:p>
            <a:r>
              <a:rPr sz="1400" b="0">
                <a:latin typeface="Calibri"/>
              </a:rPr>
              <a:t>• Identify likely cause</a:t>
            </a:r>
          </a:p>
          <a:p>
            <a:r>
              <a:rPr sz="1400" b="0">
                <a:latin typeface="Calibri"/>
              </a:rPr>
              <a:t>• Show confidence and severity</a:t>
            </a:r>
          </a:p>
          <a:p>
            <a:r>
              <a:rPr sz="1400" b="0">
                <a:latin typeface="Calibri"/>
              </a:rPr>
              <a:t>• Provide supporting evidence</a:t>
            </a:r>
          </a:p>
          <a:p>
            <a:r>
              <a:rPr sz="1400" b="0">
                <a:latin typeface="Calibri"/>
              </a:rPr>
              <a:t>• Recommend safe operator action</a:t>
            </a:r>
          </a:p>
          <a:p>
            <a:r>
              <a:rPr sz="1400" b="0">
                <a:latin typeface="Calibri"/>
              </a:rPr>
              <a:t>• Estimate energy and cost impact</a:t>
            </a:r>
          </a:p>
        </p:txBody>
      </p:sp>
      <p:sp>
        <p:nvSpPr>
          <p:cNvPr id="28" name="Text 22"/>
          <p:cNvSpPr txBox="1"/>
          <p:nvPr/>
        </p:nvSpPr>
        <p:spPr>
          <a:xfrm>
            <a:off x="457200" y="5900000"/>
            <a:ext cx="108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600" b="1">
                <a:latin typeface="Calibri"/>
              </a:rPr>
              <a:t>Measure → Understand → Detect → Explain → Act</a:t>
            </a:r>
          </a:p>
        </p:txBody>
      </p:sp>
      <p:sp>
        <p:nvSpPr>
          <p:cNvPr id="34" name="Text 27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MachineSense Works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flow, from the machine to the decision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21792" y="255574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0" descr="icons/activit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29" y="2688885"/>
            <a:ext cx="245791" cy="24579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61872" y="2304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sensors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61872" y="2670048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Current, voltage, vibration, temperature, RPM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133088" y="2752344"/>
            <a:ext cx="237744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4434840" y="219456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4599432" y="255574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1" descr="icons/wifi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569" y="2688885"/>
            <a:ext cx="245791" cy="24579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239512" y="2304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node (ESP32 &amp; Schneider Harmony Hub)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239512" y="2670048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readings over Wi-Fi / MQTT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8110728" y="2752344"/>
            <a:ext cx="237744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8412480" y="219456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6"/>
          <p:cNvSpPr/>
          <p:nvPr/>
        </p:nvSpPr>
        <p:spPr>
          <a:xfrm>
            <a:off x="8577072" y="255574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2" descr="icons/cpu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0209" y="2688885"/>
            <a:ext cx="245791" cy="24579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217152" y="2304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processing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9217152" y="2670048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cost, runs anomaly detection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5916168" y="3429000"/>
            <a:ext cx="0" cy="45720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0"/>
          <p:cNvSpPr/>
          <p:nvPr/>
        </p:nvSpPr>
        <p:spPr>
          <a:xfrm>
            <a:off x="1828800" y="388620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1"/>
          <p:cNvSpPr/>
          <p:nvPr/>
        </p:nvSpPr>
        <p:spPr>
          <a:xfrm>
            <a:off x="1993392" y="413308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3" descr="icons/serv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6529" y="4266225"/>
            <a:ext cx="245791" cy="245791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2633472" y="39959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2633472" y="436168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every reading and alert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6144768" y="4334256"/>
            <a:ext cx="420624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Shape 25"/>
          <p:cNvSpPr/>
          <p:nvPr/>
        </p:nvSpPr>
        <p:spPr>
          <a:xfrm>
            <a:off x="6675120" y="388620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Shape 26"/>
          <p:cNvSpPr/>
          <p:nvPr/>
        </p:nvSpPr>
        <p:spPr>
          <a:xfrm>
            <a:off x="6839712" y="413308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3" name="Image 4" descr="icons/barchar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2849" y="4266225"/>
            <a:ext cx="245791" cy="245791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479792" y="39959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updates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7479792" y="436168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to the dashboard instantly</a:t>
            </a:r>
            <a:endParaRPr lang="en-US" sz="850" dirty="0"/>
          </a:p>
        </p:txBody>
      </p:sp>
      <p:sp>
        <p:nvSpPr>
          <p:cNvPr id="36" name="Shape 29"/>
          <p:cNvSpPr/>
          <p:nvPr/>
        </p:nvSpPr>
        <p:spPr>
          <a:xfrm>
            <a:off x="6035040" y="4892040"/>
            <a:ext cx="0" cy="41148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0"/>
          <p:cNvSpPr/>
          <p:nvPr/>
        </p:nvSpPr>
        <p:spPr>
          <a:xfrm>
            <a:off x="3108960" y="5303520"/>
            <a:ext cx="5852160" cy="1005840"/>
          </a:xfrm>
          <a:prstGeom prst="roundRect">
            <a:avLst>
              <a:gd name="adj" fmla="val 9091"/>
            </a:avLst>
          </a:prstGeom>
          <a:solidFill>
            <a:srgbClr val="145C4B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" name="Shape 31"/>
          <p:cNvSpPr/>
          <p:nvPr/>
        </p:nvSpPr>
        <p:spPr>
          <a:xfrm>
            <a:off x="3273552" y="5550408"/>
            <a:ext cx="512064" cy="512064"/>
          </a:xfrm>
          <a:prstGeom prst="ellipse">
            <a:avLst/>
          </a:prstGeom>
          <a:solidFill>
            <a:srgbClr val="123A2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9" name="Image 5" descr="icons/target_acce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6689" y="5683545"/>
            <a:ext cx="245791" cy="245791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3913632" y="5413248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3913632" y="5779008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explained alerts, cost, remaining-life estimate</a:t>
            </a:r>
            <a:endParaRPr lang="en-US" sz="850" dirty="0"/>
          </a:p>
        </p:txBody>
      </p:sp>
      <p:sp>
        <p:nvSpPr>
          <p:cNvPr id="42" name="Text 3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Tech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0" descr="icons/activit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901952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16916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Sensors + Schneider PM5000 Modbus Meters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468880" y="2350008"/>
            <a:ext cx="0" cy="13716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57200" y="2487168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594360" y="2578608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1" descr="icons/cpu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69748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88720" y="248716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(HTTP, MQTT + Modbus TCP ingestion)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2468880" y="3145536"/>
            <a:ext cx="0" cy="13716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457200" y="3282696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594360" y="3374136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2" descr="icons/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493008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88720" y="328269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+ power/cost service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2468880" y="3941064"/>
            <a:ext cx="0" cy="13716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457200" y="4078224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594360" y="4169664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3" descr="icons/serv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288536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88720" y="407822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WebSocket broadcast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2468880" y="4736592"/>
            <a:ext cx="0" cy="13716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0"/>
          <p:cNvSpPr/>
          <p:nvPr/>
        </p:nvSpPr>
        <p:spPr>
          <a:xfrm>
            <a:off x="457200" y="4873752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1"/>
          <p:cNvSpPr/>
          <p:nvPr/>
        </p:nvSpPr>
        <p:spPr>
          <a:xfrm>
            <a:off x="594360" y="4965192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4" descr="icons/gri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5084064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188720" y="487375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(multi-machine)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583680" y="169164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4"/>
          <p:cNvSpPr txBox="1"/>
          <p:nvPr/>
        </p:nvSpPr>
        <p:spPr>
          <a:xfrm>
            <a:off x="690372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6903720" y="23774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</a:t>
            </a:r>
            <a:r>
              <a:rPr lang="en-US" sz="1050" dirty="0">
                <a:solidFill>
                  <a:srgbClr val="E3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Uvicorn, SQLAlchemy 2.0, Alembic, asyncpg</a:t>
            </a:r>
            <a:endParaRPr lang="en-US" sz="950" dirty="0"/>
          </a:p>
        </p:txBody>
      </p:sp>
      <p:sp>
        <p:nvSpPr>
          <p:cNvPr id="33" name="Text 26"/>
          <p:cNvSpPr txBox="1"/>
          <p:nvPr/>
        </p:nvSpPr>
        <p:spPr>
          <a:xfrm>
            <a:off x="6903720" y="314553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</a:t>
            </a:r>
            <a:r>
              <a:rPr lang="en-US" sz="1050" dirty="0">
                <a:solidFill>
                  <a:srgbClr val="E3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MQTT (aiomqtt), WebSockets</a:t>
            </a:r>
            <a:endParaRPr 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6903720" y="39136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 </a:t>
            </a:r>
            <a:r>
              <a:rPr lang="en-US" sz="1050" dirty="0">
                <a:solidFill>
                  <a:srgbClr val="E3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SciPy — MAD-based anomaly detection</a:t>
            </a:r>
            <a:endParaRPr lang="en-US" sz="950" dirty="0"/>
          </a:p>
        </p:txBody>
      </p:sp>
      <p:sp>
        <p:nvSpPr>
          <p:cNvPr id="35" name="Text 28"/>
          <p:cNvSpPr txBox="1"/>
          <p:nvPr/>
        </p:nvSpPr>
        <p:spPr>
          <a:xfrm>
            <a:off x="6903720" y="46817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</a:t>
            </a:r>
            <a:r>
              <a:rPr lang="en-US" sz="1050" dirty="0">
                <a:solidFill>
                  <a:srgbClr val="E3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TypeScript, Vite, react-router</a:t>
            </a:r>
            <a:endParaRPr lang="en-US" sz="950" dirty="0"/>
          </a:p>
        </p:txBody>
      </p:sp>
      <p:sp>
        <p:nvSpPr>
          <p:cNvPr id="36" name="Text 29"/>
          <p:cNvSpPr txBox="1"/>
          <p:nvPr/>
        </p:nvSpPr>
        <p:spPr>
          <a:xfrm>
            <a:off x="6903720" y="544982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 </a:t>
            </a:r>
            <a:r>
              <a:rPr lang="en-US" sz="1050" dirty="0">
                <a:solidFill>
                  <a:srgbClr val="E3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pytest, pytest-asyncio, httpx — 47 tests passing</a:t>
            </a:r>
            <a:endParaRPr lang="en-US" sz="950" dirty="0"/>
          </a:p>
        </p:txBody>
      </p:sp>
      <p:sp>
        <p:nvSpPr>
          <p:cNvPr id="37" name="Text 3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Health &amp; Energy Intelligence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icons/activit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2005279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874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health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5603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— </a:t>
            </a:r>
            <a:r>
              <a:rPr lang="en-US" sz="108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signal for catching bearing wear early — ~50% of motor failures start here.</a:t>
            </a:r>
            <a:endParaRPr lang="en-US" sz="108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49300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— </a:t>
            </a:r>
            <a:r>
              <a:rPr lang="en-US" sz="108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heat with no load change signals friction or overload.</a:t>
            </a:r>
            <a:endParaRPr lang="en-US" sz="108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425696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+ RPM — </a:t>
            </a:r>
            <a:r>
              <a:rPr lang="en-US" sz="108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drawing more current or running slower than baseline hints at mechanical resistance.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44982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method: median + MAD statistical baseline, with debounce logic so a single noisy reading never fires a false alert.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309360" y="164592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583680" y="187452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icons/z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439" y="2005279"/>
            <a:ext cx="241402" cy="24140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223760" y="1874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intelligence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583680" y="25603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cost tracking — </a:t>
            </a:r>
            <a:r>
              <a:rPr lang="en-US" sz="108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power, accumulated kWh, and ₹ cost — updated every few seconds.</a:t>
            </a:r>
            <a:endParaRPr lang="en-US" sz="1080" dirty="0"/>
          </a:p>
        </p:txBody>
      </p:sp>
      <p:sp>
        <p:nvSpPr>
          <p:cNvPr id="19" name="Text 15"/>
          <p:cNvSpPr txBox="1"/>
          <p:nvPr/>
        </p:nvSpPr>
        <p:spPr>
          <a:xfrm>
            <a:off x="6583680" y="349300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per good unit — </a:t>
            </a:r>
            <a:r>
              <a:rPr lang="en-US" sz="108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Energy Consumption (energy ÷ good units) — the real measure of efficiency, not raw kWh.</a:t>
            </a:r>
            <a:endParaRPr lang="en-US" sz="1080" dirty="0"/>
          </a:p>
        </p:txBody>
      </p:sp>
      <p:sp>
        <p:nvSpPr>
          <p:cNvPr id="20" name="Text 16"/>
          <p:cNvSpPr txBox="1"/>
          <p:nvPr/>
        </p:nvSpPr>
        <p:spPr>
          <a:xfrm>
            <a:off x="6583680" y="4425696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comparison — </a:t>
            </a:r>
            <a:r>
              <a:rPr lang="en-US" sz="108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output changes using idle time, slow-running periods, and health alerts — not just a number.</a:t>
            </a:r>
            <a:endParaRPr lang="en-US" sz="1080" dirty="0"/>
          </a:p>
        </p:txBody>
      </p:sp>
      <p:sp>
        <p:nvSpPr>
          <p:cNvPr id="21" name="Text 17"/>
          <p:cNvSpPr txBox="1"/>
          <p:nvPr/>
        </p:nvSpPr>
        <p:spPr>
          <a:xfrm>
            <a:off x="6583680" y="5449824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“Day 2 made 30% fewer good units than Day 1 despite equal run time — 42 minutes of unplanned stops, correlated with a vibration warning.”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Decision Engine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genuinely different from a sensor-plus-dashboard project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12648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icons/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85" y="2291121"/>
            <a:ext cx="245791" cy="24579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87752" y="2368296"/>
            <a:ext cx="182880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798064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953512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icons/cpu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649" y="2291121"/>
            <a:ext cx="245791" cy="24579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798064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928616" y="2368296"/>
            <a:ext cx="182880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5138928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5294376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icons/ale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7513" y="2291121"/>
            <a:ext cx="245791" cy="24579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138928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269480" y="2368296"/>
            <a:ext cx="182880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7479792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7635240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icons/c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8377" y="2291121"/>
            <a:ext cx="245791" cy="24579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79792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9610344" y="2368296"/>
            <a:ext cx="182880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9820656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9976104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4" descr="icons/za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9241" y="2291121"/>
            <a:ext cx="245791" cy="245791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820656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457200" y="324612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685800" y="3456432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5" descr="icons/ey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559" y="3587191"/>
            <a:ext cx="241402" cy="24140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32588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731520" y="4069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on the dashboard only — all readings normal.</a:t>
            </a:r>
            <a:endParaRPr lang="en-US" sz="980" dirty="0"/>
          </a:p>
        </p:txBody>
      </p:sp>
      <p:sp>
        <p:nvSpPr>
          <p:cNvPr id="36" name="Shape 28"/>
          <p:cNvSpPr/>
          <p:nvPr/>
        </p:nvSpPr>
        <p:spPr>
          <a:xfrm>
            <a:off x="4297680" y="324612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FDF0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29"/>
          <p:cNvSpPr/>
          <p:nvPr/>
        </p:nvSpPr>
        <p:spPr>
          <a:xfrm>
            <a:off x="4526280" y="3456432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6" descr="icons/ale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039" y="3587191"/>
            <a:ext cx="241402" cy="24140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5166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400" dirty="0"/>
          </a:p>
        </p:txBody>
      </p:sp>
      <p:sp>
        <p:nvSpPr>
          <p:cNvPr id="40" name="Text 31"/>
          <p:cNvSpPr txBox="1"/>
          <p:nvPr/>
        </p:nvSpPr>
        <p:spPr>
          <a:xfrm>
            <a:off x="4572000" y="4069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is notified; the decision to act stays human.</a:t>
            </a:r>
            <a:endParaRPr lang="en-US" sz="980" dirty="0"/>
          </a:p>
        </p:txBody>
      </p:sp>
      <p:sp>
        <p:nvSpPr>
          <p:cNvPr id="41" name="Shape 32"/>
          <p:cNvSpPr/>
          <p:nvPr/>
        </p:nvSpPr>
        <p:spPr>
          <a:xfrm>
            <a:off x="8138160" y="324612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DDF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33"/>
          <p:cNvSpPr/>
          <p:nvPr/>
        </p:nvSpPr>
        <p:spPr>
          <a:xfrm>
            <a:off x="8366760" y="3456432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3" name="Image 7" descr="icons/za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7519" y="3587191"/>
            <a:ext cx="241402" cy="241402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9006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400" dirty="0"/>
          </a:p>
        </p:txBody>
      </p:sp>
      <p:sp>
        <p:nvSpPr>
          <p:cNvPr id="45" name="Text 35"/>
          <p:cNvSpPr txBox="1"/>
          <p:nvPr/>
        </p:nvSpPr>
        <p:spPr>
          <a:xfrm>
            <a:off x="8412480" y="4069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reversible action only — e.g. auto on/off a cooling fan when a machine overheats, saving energy, never touching the core machine itself.</a:t>
            </a:r>
            <a:endParaRPr lang="en-US" sz="980" dirty="0"/>
          </a:p>
        </p:txBody>
      </p:sp>
      <p:sp>
        <p:nvSpPr>
          <p:cNvPr id="46" name="Text 36"/>
          <p:cNvSpPr txBox="1"/>
          <p:nvPr/>
        </p:nvSpPr>
        <p:spPr>
          <a:xfrm>
            <a:off x="457200" y="5349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novel: </a:t>
            </a:r>
            <a:r>
              <a:rPr lang="en-US" sz="115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hackathon monitoring projects stop at a red/green light. MachineSense explains every alert in plain language and is the only tier allowed to act — safely — on its own.</a:t>
            </a:r>
            <a:endParaRPr lang="en-US" sz="1150" dirty="0"/>
          </a:p>
        </p:txBody>
      </p:sp>
      <p:sp>
        <p:nvSpPr>
          <p:cNvPr id="47" name="Text 37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 — Working Prototype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mockup — this is the actual running application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1247120" cy="4343400"/>
          </a:xfrm>
          <a:prstGeom prst="roundRect">
            <a:avLst>
              <a:gd name="adj" fmla="val 2105"/>
            </a:avLst>
          </a:prstGeom>
          <a:solidFill>
            <a:srgbClr val="0E1512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0" descr="crops/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" y="2011680"/>
            <a:ext cx="10844784" cy="40690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&amp; Viability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0" descr="icons/doll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2050999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920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machine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743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MachineSense Hybrid Node (ESP32 + Schneider)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306324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2FD9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73152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₹1,800 – 2,500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023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monitoring system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4343400"/>
            <a:ext cx="4663440" cy="365760"/>
          </a:xfrm>
          <a:prstGeom prst="roundRect">
            <a:avLst>
              <a:gd name="adj" fmla="val 12500"/>
            </a:avLst>
          </a:prstGeom>
          <a:solidFill>
            <a:srgbClr val="D7DE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73152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₹15,000 – 25,000+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303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free-to-use stack: FastAPI, React, PostgreSQL, MQTT — no licensing cost at any scale.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309360" y="16916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6583680" y="1920240"/>
            <a:ext cx="502920" cy="502920"/>
          </a:xfrm>
          <a:prstGeom prst="ellipse">
            <a:avLst/>
          </a:prstGeom>
          <a:solidFill>
            <a:srgbClr val="123A2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1" descr="icons/glob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439" y="2050999"/>
            <a:ext cx="241402" cy="24140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223760" y="1920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6583680" y="2606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00" dirty="0">
                <a:solidFill>
                  <a:srgbClr val="E3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supports multiple machines, each with its own independent baseline.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6583680" y="3657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00" dirty="0">
                <a:solidFill>
                  <a:srgbClr val="E3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fleet overview page lets one operator watch an entire factory at a glance.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6583680" y="47091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00" dirty="0">
                <a:solidFill>
                  <a:srgbClr val="E3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one sensor inferring many machines (NILM), and shared learning across whole factory clusters via federated learning — without any factory's raw data leaving its building.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Benefits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13232" y="1920240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icons/doll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4" y="2058132"/>
            <a:ext cx="254569" cy="25456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13232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8–12×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than commercial monitoring, per machine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97680" y="169164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553712" y="1920240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icons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604" y="2058132"/>
            <a:ext cx="254569" cy="25456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53712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4553712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detection, days before failure — not after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138160" y="169164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394192" y="1920240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icons/trenddow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2084" y="2058132"/>
            <a:ext cx="254569" cy="25456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94192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8394192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downtime and energy waste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365760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731520" y="388620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icons/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9" y="4016959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71600" y="3886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31520" y="45720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factory owners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visibility previously reserved for large industry.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operators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explained alerts instead of unexplained red lights.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energy goals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 for efficiency gains to reach the MSME segment PAT doesn't cover.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309360" y="365760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6583680" y="388620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4" descr="icons/glob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4439" y="4016959"/>
            <a:ext cx="241402" cy="24140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223760" y="3886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6583680" y="45720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7 — Affordable &amp; Clean Energy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industrial energy waste at the source.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 — Industry, Innovation &amp; Infrastructure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affordable smart-monitoring infrastructure to SMEs.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12 — Responsible Consumption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wasted energy and material per unit produced.</a:t>
            </a:r>
            <a:endParaRPr lang="en-US" sz="1050" dirty="0"/>
          </a:p>
        </p:txBody>
      </p:sp>
      <p:sp>
        <p:nvSpPr>
          <p:cNvPr id="31" name="Text 2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3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800" dirty="0">
                <a:solidFill>
                  <a:srgbClr val="BF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23A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123A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02920" cy="502920"/>
          </a:xfrm>
          <a:prstGeom prst="ellipse">
            <a:avLst/>
          </a:prstGeom>
          <a:solidFill>
            <a:srgbClr val="0A131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icons/clock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" y="2050999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Remaining-useful-life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1089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LSTM/Transformer models to predict days until service, not just Normal/Warning.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37560" y="169164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123A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566160" y="1920240"/>
            <a:ext cx="502920" cy="502920"/>
          </a:xfrm>
          <a:prstGeom prst="ellipse">
            <a:avLst/>
          </a:prstGeom>
          <a:solidFill>
            <a:srgbClr val="0A131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icons/branch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6919" y="205099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66160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31089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improve one shared fault-detection model without ever sharing raw data.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217920" y="169164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123A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446520" y="1920240"/>
            <a:ext cx="502920" cy="502920"/>
          </a:xfrm>
          <a:prstGeom prst="ellipse">
            <a:avLst/>
          </a:prstGeom>
          <a:solidFill>
            <a:srgbClr val="0A131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icons/cpu_acc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7279" y="205099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46520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(TinyML)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446520" y="31089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 running on the sensor node itself — works even without internet.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9098280" y="169164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123A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9326880" y="1920240"/>
            <a:ext cx="502920" cy="502920"/>
          </a:xfrm>
          <a:prstGeom prst="ellipse">
            <a:avLst/>
          </a:prstGeom>
          <a:solidFill>
            <a:srgbClr val="0A131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icons/grid_acc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639" y="2050999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326880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view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9326880" y="31089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visual model of the machine, not just line charts.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57200" y="4434840"/>
            <a:ext cx="11247120" cy="0"/>
          </a:xfrm>
          <a:prstGeom prst="line">
            <a:avLst/>
          </a:prstGeom>
          <a:noFill/>
          <a:ln w="12700">
            <a:solidFill>
              <a:srgbClr val="164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 txBox="1"/>
          <p:nvPr/>
        </p:nvSpPr>
        <p:spPr>
          <a:xfrm>
            <a:off x="457200" y="46634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sensor, every model, and every automated action exists to close the gap between “something changed” and “exactly why, and what to do about it.”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A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MachineSense  ·  Yuva Yodha Energy Tech Hackathon 2026  ·  Challenge 04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A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1334</Words>
  <Application>Microsoft Office PowerPoint</Application>
  <PresentationFormat>Widescreen</PresentationFormat>
  <Paragraphs>202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Vinit Shinde</cp:lastModifiedBy>
  <cp:revision>2</cp:revision>
  <dcterms:created xsi:type="dcterms:W3CDTF">2026-10-04T06:35:18Z</dcterms:created>
  <dcterms:modified xsi:type="dcterms:W3CDTF">2026-10-04T07:07:05Z</dcterms:modified>
</cp:coreProperties>
</file>