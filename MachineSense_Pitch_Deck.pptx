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3.png"/><Relationship Id="rId8" Type="http://schemas.openxmlformats.org/officeDocument/2006/relationships/image" Target="../media/image-8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B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23A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863840" y="-1371600"/>
            <a:ext cx="6400800" cy="6400800"/>
          </a:xfrm>
          <a:prstGeom prst="ellipse">
            <a:avLst/>
          </a:prstGeom>
          <a:ln w="25400">
            <a:solidFill>
              <a:srgbClr val="1646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-457200"/>
            <a:ext cx="4572000" cy="4572000"/>
          </a:xfrm>
          <a:prstGeom prst="ellipse">
            <a:avLst/>
          </a:prstGeom>
          <a:ln w="19050">
            <a:solidFill>
              <a:srgbClr val="1646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23A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04  ·  SMART MANUFACTURING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MachineSense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33375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real-time machine health and energy monitoring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SME manufacturers.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</p:sp>
      <p:pic>
        <p:nvPicPr>
          <p:cNvPr id="12" name="Image 0" descr="icons/dollar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96519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51560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5102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commercial monitoring cost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749040" y="4846320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</p:sp>
      <p:pic>
        <p:nvPicPr>
          <p:cNvPr id="16" name="Image 1" descr="icons/zap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912" y="4965192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43400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343400" y="5102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health + energy data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040880" y="4846320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</p:sp>
      <p:pic>
        <p:nvPicPr>
          <p:cNvPr id="20" name="Image 2" descr="icons/shield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496519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635240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7635240" y="5102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not a black-box alert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MachineSense  ·  Yuva Yodha Energy Tech Hackathon 2026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A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factories run blind on energy and machine health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9" name="Image 0" descr="icons/z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238292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35–40%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total energy is used by industry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965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224028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4" name="Image 1" descr="icons/doll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38292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₹15–25k+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 commercial monitoring system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138160" y="1965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12480" y="224028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9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26" y="238292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1248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factories covered by India's PAT energy scheme — SMEs are not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day to day on the factory floor: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44805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fail without warning — the first sign of trouble is often a breakdown.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waste goes unnoticed until the monthly electricity bill arrives.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 way to know which machine, or which fault, is costing the most.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Approaches Fall Short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03911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</p:sp>
      <p:pic>
        <p:nvPicPr>
          <p:cNvPr id="8" name="Image 0" descr="icons/dollar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" y="2186513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020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SCADA / monitoring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large industry (₹15,000–25,000+ per point). Out of reach for SMEs.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2648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82512" y="203911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</p:sp>
      <p:pic>
        <p:nvPicPr>
          <p:cNvPr id="13" name="Image 1" descr="icons/users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913" y="2186513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32320" y="2020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energy schemes (PAT)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covers ~900 large "Designated Consumers." The entire MSME segment sits outside it.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3232" y="423367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</p:sp>
      <p:pic>
        <p:nvPicPr>
          <p:cNvPr id="18" name="Image 2" descr="icons/tool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438107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42153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predictive — a technician finds out after something has already gone wrong.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12648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82512" y="423367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</p:sp>
      <p:pic>
        <p:nvPicPr>
          <p:cNvPr id="23" name="Image 3" descr="icons/barchart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913" y="4381073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32320" y="42153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IoT dashboards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raw numbers, but don't explain why an alert fired or what to actually do about it.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— MachineSense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914400"/>
          </a:xfrm>
          <a:prstGeom prst="roundRect">
            <a:avLst>
              <a:gd name="adj" fmla="val 12000"/>
            </a:avLst>
          </a:prstGeom>
          <a:solidFill>
            <a:srgbClr val="0B3D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sensor node plus an explainable AI engine that tells a factory owner exactly what's wrong, what it's costing, and what to do next.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solves the problem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089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Retrofits any existing machine — no replacement, no PLC needed.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under ₹2,500 per machine, versus ₹15,000–25,000+ commercially.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mechanical wear and energy waste before the monthly bill or a breakdown reveals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7F3ED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944368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2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8719" y="3075127"/>
            <a:ext cx="241402" cy="2414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178040" y="2926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5204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explains itself (which signal, how much) instead of an unexplained warning light — and the system is allowed to act on its own only for safe, reversible actions like switching on a cooling fan.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7" name="Image 1" descr="icons/activ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72" y="5377404"/>
            <a:ext cx="254569" cy="25456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258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127248" y="544982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</p:sp>
      <p:sp>
        <p:nvSpPr>
          <p:cNvPr id="20" name="Shape 16"/>
          <p:cNvSpPr/>
          <p:nvPr/>
        </p:nvSpPr>
        <p:spPr>
          <a:xfrm>
            <a:off x="34290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118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2" name="Image 2" descr="icons/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772" y="5377404"/>
            <a:ext cx="254569" cy="25456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2976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099048" y="544982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</p:sp>
      <p:sp>
        <p:nvSpPr>
          <p:cNvPr id="25" name="Shape 20"/>
          <p:cNvSpPr/>
          <p:nvPr/>
        </p:nvSpPr>
        <p:spPr>
          <a:xfrm>
            <a:off x="64008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836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7" name="Image 3" descr="icons/ale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572" y="5377404"/>
            <a:ext cx="254569" cy="254569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2694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9070848" y="544982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</p:sp>
      <p:sp>
        <p:nvSpPr>
          <p:cNvPr id="30" name="Shape 24"/>
          <p:cNvSpPr/>
          <p:nvPr/>
        </p:nvSpPr>
        <p:spPr>
          <a:xfrm>
            <a:off x="93726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5554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2" name="Image 4" descr="icons/z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3372" y="5377404"/>
            <a:ext cx="254569" cy="254569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2412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MachineSense Works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flow, from the machine to the decision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9" name="Image 0" descr="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929" y="2688885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6187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sensors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6187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Current, voltage, vibration, temperature, RPM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33088" y="275234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9943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5" name="Image 1" descr="icons/wifi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569" y="2688885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3951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 (ESP32)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23951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readings over Wi-Fi / MQTT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8110728" y="275234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</p:sp>
      <p:sp>
        <p:nvSpPr>
          <p:cNvPr id="19" name="Shape 15"/>
          <p:cNvSpPr/>
          <p:nvPr/>
        </p:nvSpPr>
        <p:spPr>
          <a:xfrm>
            <a:off x="841248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57707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1" name="Image 2" descr="icons/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209" y="2688885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21715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processing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21715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cost, runs anomaly detection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5916168" y="3429000"/>
            <a:ext cx="0" cy="45720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828800" y="3886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993392" y="413308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7" name="Image 3" descr="icons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529" y="4266225"/>
            <a:ext cx="245791" cy="24579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633472" y="39959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2633472" y="43616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 reading and alert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6144768" y="4334256"/>
            <a:ext cx="420624" cy="109728"/>
          </a:xfrm>
          <a:prstGeom prst="rightArrow">
            <a:avLst/>
          </a:prstGeom>
          <a:solidFill>
            <a:srgbClr val="C9DCD3"/>
          </a:solidFill>
          <a:ln/>
        </p:spPr>
      </p:sp>
      <p:sp>
        <p:nvSpPr>
          <p:cNvPr id="31" name="Shape 25"/>
          <p:cNvSpPr/>
          <p:nvPr/>
        </p:nvSpPr>
        <p:spPr>
          <a:xfrm>
            <a:off x="6675120" y="3886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839712" y="413308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3" name="Image 4" descr="icons/bar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849" y="4266225"/>
            <a:ext cx="245791" cy="245791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479792" y="39959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479792" y="43616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 the dashboard instantly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6035040" y="4892040"/>
            <a:ext cx="0" cy="41148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108960" y="5303520"/>
            <a:ext cx="5852160" cy="1005840"/>
          </a:xfrm>
          <a:prstGeom prst="roundRect">
            <a:avLst>
              <a:gd name="adj" fmla="val 9091"/>
            </a:avLst>
          </a:prstGeom>
          <a:solidFill>
            <a:srgbClr val="145C4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3273552" y="5550408"/>
            <a:ext cx="512064" cy="512064"/>
          </a:xfrm>
          <a:prstGeom prst="ellipse">
            <a:avLst/>
          </a:prstGeom>
          <a:solidFill>
            <a:srgbClr val="123A2D"/>
          </a:solidFill>
          <a:ln/>
        </p:spPr>
      </p:sp>
      <p:pic>
        <p:nvPicPr>
          <p:cNvPr id="39" name="Image 5" descr="icons/target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6689" y="5683545"/>
            <a:ext cx="245791" cy="245791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913632" y="541324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3913632" y="5779008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explained alerts, cost, remaining-life estimate</a:t>
            </a:r>
            <a:endParaRPr lang="en-US" sz="850" dirty="0"/>
          </a:p>
        </p:txBody>
      </p:sp>
      <p:sp>
        <p:nvSpPr>
          <p:cNvPr id="42" name="Text 3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8" name="Image 0" descr="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019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6916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+ ESP32 node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468880" y="2350008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487168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578608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3" name="Image 1" descr="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9748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24871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(HTTP + MQTT ingestion)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468880" y="3145536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282696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" y="3374136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8" name="Image 2" descr="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9300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88720" y="328269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+ power/cost service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468880" y="3941064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4078224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94360" y="4169664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3" name="Image 3" descr="icons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28853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88720" y="40782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WebSocket broadcast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2468880" y="4736592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7200" y="4873752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94360" y="4965192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8" name="Image 4" descr="icons/gri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084064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88720" y="48737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(multi-machine)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58368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0B3D2E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90372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6903720" y="2377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indent="0" marL="0">
              <a:buNone/>
            </a:pPr>
            <a:r>
              <a:rPr lang="en-US" sz="105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Uvicorn, SQLAlchemy 2.0, Alembic, asyncpg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6903720" y="31455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</a:t>
            </a:r>
            <a:pPr indent="0" marL="0">
              <a:buNone/>
            </a:pPr>
            <a:r>
              <a:rPr lang="en-US" sz="105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MQTT (aiomqtt), WebSockets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6903720" y="39136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 </a:t>
            </a:r>
            <a:pPr indent="0" marL="0">
              <a:buNone/>
            </a:pPr>
            <a:r>
              <a:rPr lang="en-US" sz="105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SciPy — MAD-based anomaly detection</a:t>
            </a:r>
            <a:endParaRPr lang="en-US" sz="950" dirty="0"/>
          </a:p>
        </p:txBody>
      </p:sp>
      <p:sp>
        <p:nvSpPr>
          <p:cNvPr id="35" name="Text 28"/>
          <p:cNvSpPr txBox="1"/>
          <p:nvPr/>
        </p:nvSpPr>
        <p:spPr>
          <a:xfrm>
            <a:off x="6903720" y="46817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pPr indent="0" marL="0">
              <a:buNone/>
            </a:pPr>
            <a:r>
              <a:rPr lang="en-US" sz="105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TypeScript, Vite, react-router</a:t>
            </a:r>
            <a:endParaRPr lang="en-US" sz="950" dirty="0"/>
          </a:p>
        </p:txBody>
      </p:sp>
      <p:sp>
        <p:nvSpPr>
          <p:cNvPr id="36" name="Text 29"/>
          <p:cNvSpPr txBox="1"/>
          <p:nvPr/>
        </p:nvSpPr>
        <p:spPr>
          <a:xfrm>
            <a:off x="6903720" y="544982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 </a:t>
            </a:r>
            <a:pPr indent="0" marL="0">
              <a:buNone/>
            </a:pPr>
            <a:r>
              <a:rPr lang="en-US" sz="105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pytest-asyncio, httpx — 47 tests passing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Health &amp; Energy Intelligence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8" name="Image 0" descr="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00527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health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60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signal for catching bearing wear early — ~50% of motor failures start here.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4930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heat with no load change signals friction or overload.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42569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+ RPM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drawing more current or running slower than baseline hints at mechanical resistance.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4498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method: median + MAD statistical baseline, with debounce logic so a single noisy reading never fires a false alert.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09360" y="16459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6" name="Image 1" descr="icons/z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2005279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2376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intelligence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2560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cost tracking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power, accumulated kWh, and ₹ cost — updated every few seconds.</a:t>
            </a:r>
            <a:endParaRPr lang="en-US" sz="108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34930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per good unit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Energy Consumption (energy ÷ good units) — the real measure of efficiency, not raw kWh.</a:t>
            </a:r>
            <a:endParaRPr lang="en-US" sz="1080" dirty="0"/>
          </a:p>
        </p:txBody>
      </p:sp>
      <p:sp>
        <p:nvSpPr>
          <p:cNvPr id="20" name="Text 16"/>
          <p:cNvSpPr txBox="1"/>
          <p:nvPr/>
        </p:nvSpPr>
        <p:spPr>
          <a:xfrm>
            <a:off x="6583680" y="442569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comparison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output changes using idle time, slow-running periods, and health alerts — not just a number.</a:t>
            </a:r>
            <a:endParaRPr lang="en-US" sz="108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544982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“Day 2 made 30% fewer good units than Day 1 despite equal run time — 42 minutes of unplanned stops, correlated with a vibration warning.”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Decision Engine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genuinely different from a sensor-plus-dashboard project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9" name="Image 0" descr="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785" y="2291121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87752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</p:sp>
      <p:sp>
        <p:nvSpPr>
          <p:cNvPr id="12" name="Shape 9"/>
          <p:cNvSpPr/>
          <p:nvPr/>
        </p:nvSpPr>
        <p:spPr>
          <a:xfrm>
            <a:off x="2798064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53512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4" name="Image 1" descr="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649" y="2291121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798064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928616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</p:sp>
      <p:sp>
        <p:nvSpPr>
          <p:cNvPr id="17" name="Shape 13"/>
          <p:cNvSpPr/>
          <p:nvPr/>
        </p:nvSpPr>
        <p:spPr>
          <a:xfrm>
            <a:off x="5138928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294376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9" name="Image 2" descr="icons/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513" y="2291121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38928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269480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</p:sp>
      <p:sp>
        <p:nvSpPr>
          <p:cNvPr id="22" name="Shape 17"/>
          <p:cNvSpPr/>
          <p:nvPr/>
        </p:nvSpPr>
        <p:spPr>
          <a:xfrm>
            <a:off x="7479792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635240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4" name="Image 3" descr="icons/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377" y="2291121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79792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610344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</p:sp>
      <p:sp>
        <p:nvSpPr>
          <p:cNvPr id="27" name="Shape 21"/>
          <p:cNvSpPr/>
          <p:nvPr/>
        </p:nvSpPr>
        <p:spPr>
          <a:xfrm>
            <a:off x="9820656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976104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9" name="Image 4" descr="icons/z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9241" y="2291121"/>
            <a:ext cx="245791" cy="24579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20656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5720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E7F3ED"/>
          </a:solidFill>
          <a:ln/>
        </p:spPr>
      </p:sp>
      <p:sp>
        <p:nvSpPr>
          <p:cNvPr id="32" name="Shape 25"/>
          <p:cNvSpPr/>
          <p:nvPr/>
        </p:nvSpPr>
        <p:spPr>
          <a:xfrm>
            <a:off x="68580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3" name="Image 5" descr="icons/ey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" y="3587191"/>
            <a:ext cx="241402" cy="2414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3258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73152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the dashboard only — all readings normal.</a:t>
            </a:r>
            <a:endParaRPr lang="en-US" sz="980" dirty="0"/>
          </a:p>
        </p:txBody>
      </p:sp>
      <p:sp>
        <p:nvSpPr>
          <p:cNvPr id="36" name="Shape 28"/>
          <p:cNvSpPr/>
          <p:nvPr/>
        </p:nvSpPr>
        <p:spPr>
          <a:xfrm>
            <a:off x="429768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FDF0DC"/>
          </a:solidFill>
          <a:ln/>
        </p:spPr>
      </p:sp>
      <p:sp>
        <p:nvSpPr>
          <p:cNvPr id="37" name="Shape 29"/>
          <p:cNvSpPr/>
          <p:nvPr/>
        </p:nvSpPr>
        <p:spPr>
          <a:xfrm>
            <a:off x="452628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8" name="Image 6" descr="icons/aler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7039" y="3587191"/>
            <a:ext cx="241402" cy="2414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166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457200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is notified; the decision to act stays human.</a:t>
            </a:r>
            <a:endParaRPr lang="en-US" sz="980" dirty="0"/>
          </a:p>
        </p:txBody>
      </p:sp>
      <p:sp>
        <p:nvSpPr>
          <p:cNvPr id="41" name="Shape 32"/>
          <p:cNvSpPr/>
          <p:nvPr/>
        </p:nvSpPr>
        <p:spPr>
          <a:xfrm>
            <a:off x="813816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DDF3E8"/>
          </a:solidFill>
          <a:ln/>
        </p:spPr>
      </p:sp>
      <p:sp>
        <p:nvSpPr>
          <p:cNvPr id="42" name="Shape 33"/>
          <p:cNvSpPr/>
          <p:nvPr/>
        </p:nvSpPr>
        <p:spPr>
          <a:xfrm>
            <a:off x="836676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43" name="Image 7" descr="icons/zap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7519" y="3587191"/>
            <a:ext cx="241402" cy="24140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006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400" dirty="0"/>
          </a:p>
        </p:txBody>
      </p:sp>
      <p:sp>
        <p:nvSpPr>
          <p:cNvPr id="45" name="Text 35"/>
          <p:cNvSpPr txBox="1"/>
          <p:nvPr/>
        </p:nvSpPr>
        <p:spPr>
          <a:xfrm>
            <a:off x="841248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reversible action only — e.g. auto on/off a cooling fan when a machine overheats, saving energy, never touching the core machine itself.</a:t>
            </a:r>
            <a:endParaRPr lang="en-US" sz="980" dirty="0"/>
          </a:p>
        </p:txBody>
      </p:sp>
      <p:sp>
        <p:nvSpPr>
          <p:cNvPr id="46" name="Text 36"/>
          <p:cNvSpPr txBox="1"/>
          <p:nvPr/>
        </p:nvSpPr>
        <p:spPr>
          <a:xfrm>
            <a:off x="457200" y="5349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novel: </a:t>
            </a:r>
            <a:pPr indent="0" marL="0">
              <a:buNone/>
            </a:pPr>
            <a:r>
              <a:rPr lang="en-US" sz="11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hackathon monitoring projects stop at a red/green light. MachineSense explains every alert in plain language and is the only tier allowed to act — safely — on its own.</a:t>
            </a:r>
            <a:endParaRPr lang="en-US" sz="1150" dirty="0"/>
          </a:p>
        </p:txBody>
      </p:sp>
      <p:sp>
        <p:nvSpPr>
          <p:cNvPr id="47" name="Text 3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— Working Prototype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 — this is the actual running application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1247120" cy="4343400"/>
          </a:xfrm>
          <a:prstGeom prst="roundRect">
            <a:avLst>
              <a:gd name="adj" fmla="val 2105"/>
            </a:avLst>
          </a:prstGeom>
          <a:solidFill>
            <a:srgbClr val="0E1512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8" name="Image 0" descr="crops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011680"/>
            <a:ext cx="10844784" cy="40690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Viability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8" name="Image 0" descr="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0509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machine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MachineSense sensor node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06324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2FD98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₹1,800 – 2,500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monitoring system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4343400"/>
            <a:ext cx="4663440" cy="365760"/>
          </a:xfrm>
          <a:prstGeom prst="roundRect">
            <a:avLst>
              <a:gd name="adj" fmla="val 12500"/>
            </a:avLst>
          </a:prstGeom>
          <a:solidFill>
            <a:srgbClr val="D7DED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₹15,000 – 25,000+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303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free-to-use stack: FastAPI, React, PostgreSQL, MQTT — no licensing cost at any scale.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0936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0B3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0" y="1920240"/>
            <a:ext cx="502920" cy="502920"/>
          </a:xfrm>
          <a:prstGeom prst="ellipse">
            <a:avLst/>
          </a:prstGeom>
          <a:solidFill>
            <a:srgbClr val="123A2D"/>
          </a:solidFill>
          <a:ln/>
        </p:spPr>
      </p:sp>
      <p:pic>
        <p:nvPicPr>
          <p:cNvPr id="19" name="Image 1" descr="icons/glob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2050999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2376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supports multiple machines, each with its own independent baseline.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0" y="3657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fleet overview page lets one operator watch an entire factory at a glance.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583680" y="4709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one sensor inferring many machines (NILM), and shared learning across whole factory clusters via federated learning — without any factory's raw data leaving its building.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8" name="Image 0" descr="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124" y="2058132"/>
            <a:ext cx="254569" cy="25456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323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8–12×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commercial monitoring, per machine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371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3" name="Image 1" descr="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604" y="2058132"/>
            <a:ext cx="254569" cy="25456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5371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55371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detection, days before failure — not after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8" name="Image 2" descr="icons/trenddow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084" y="2058132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9419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839419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 and energy waste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6576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E7F3ED"/>
          </a:solidFill>
          <a:ln/>
        </p:spPr>
      </p:sp>
      <p:sp>
        <p:nvSpPr>
          <p:cNvPr id="22" name="Shape 17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3" name="Image 3" descr="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401695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7160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" y="4572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factory owners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visibility previously reserved for large industry.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operators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explained alerts instead of unexplained red lights.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energy goals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for efficiency gains to reach the MSME segment PAT doesn't cover.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309360" y="36576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E7F3ED"/>
          </a:solidFill>
          <a:ln/>
        </p:spPr>
      </p:sp>
      <p:sp>
        <p:nvSpPr>
          <p:cNvPr id="27" name="Shape 21"/>
          <p:cNvSpPr/>
          <p:nvPr/>
        </p:nvSpPr>
        <p:spPr>
          <a:xfrm>
            <a:off x="6583680" y="38862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8" name="Image 4" descr="icons/glob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4439" y="4016959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2376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583680" y="4572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 — Affordable &amp; Clean Energy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industrial energy waste at the source.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 — Industry, Innovation &amp; Infrastructure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affordable smart-monitoring infrastructure to SMEs.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 — Responsible Consumption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wasted energy and material per unit produced.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B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23A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</p:sp>
      <p:pic>
        <p:nvPicPr>
          <p:cNvPr id="8" name="Image 0" descr="icons/clo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20509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Remaining-useful-life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LSTM/Transformer models to predict days until service, not just Normal/Warning.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3756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</p:sp>
      <p:sp>
        <p:nvSpPr>
          <p:cNvPr id="12" name="Shape 9"/>
          <p:cNvSpPr/>
          <p:nvPr/>
        </p:nvSpPr>
        <p:spPr>
          <a:xfrm>
            <a:off x="356616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</p:sp>
      <p:pic>
        <p:nvPicPr>
          <p:cNvPr id="13" name="Image 1" descr="icons/branch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919" y="205099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improve one shared fault-detection model without ever sharing raw data.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1792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</p:sp>
      <p:sp>
        <p:nvSpPr>
          <p:cNvPr id="17" name="Shape 13"/>
          <p:cNvSpPr/>
          <p:nvPr/>
        </p:nvSpPr>
        <p:spPr>
          <a:xfrm>
            <a:off x="644652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</p:sp>
      <p:pic>
        <p:nvPicPr>
          <p:cNvPr id="18" name="Image 2" descr="icons/cpu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79" y="205099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(TinyML)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running on the sensor node itself — works even without internet.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09828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</p:sp>
      <p:sp>
        <p:nvSpPr>
          <p:cNvPr id="22" name="Shape 17"/>
          <p:cNvSpPr/>
          <p:nvPr/>
        </p:nvSpPr>
        <p:spPr>
          <a:xfrm>
            <a:off x="932688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</p:sp>
      <p:pic>
        <p:nvPicPr>
          <p:cNvPr id="23" name="Image 3" descr="icons/grid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639" y="205099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2688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view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932688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visual model of the machine, not just line charts.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57200" y="4434840"/>
            <a:ext cx="11247120" cy="0"/>
          </a:xfrm>
          <a:prstGeom prst="line">
            <a:avLst/>
          </a:prstGeom>
          <a:noFill/>
          <a:ln w="12700">
            <a:solidFill>
              <a:srgbClr val="16463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57200" y="46634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sensor, every model, and every automated action exists to close the gap between “something changed” and “exactly why, and what to do about it.”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MachineSense  ·  Yuva Yodha Energy Tech Hackathon 2026  ·  Challenge 04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A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2026-10-04T06:35:18Z</dcterms:created>
  <dcterms:modified xsi:type="dcterms:W3CDTF">2026-10-04T06:35:18Z</dcterms:modified>
</cp:coreProperties>
</file>